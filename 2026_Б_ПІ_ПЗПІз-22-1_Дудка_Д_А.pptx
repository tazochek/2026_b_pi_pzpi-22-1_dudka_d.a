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af24bf594c4446" /><Relationship Type="http://schemas.openxmlformats.org/officeDocument/2006/relationships/extended-properties" Target="/docProps/app.xml" Id="Reb450ebbaff34307" /><Relationship Type="http://schemas.openxmlformats.org/officeDocument/2006/relationships/officeDocument" Target="/ppt/presentation.xml" Id="R0e40527f22b244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722ab7a57b4a37"/>
  </p:sldMasterIdLst>
  <p:notesMasterIdLst>
    <p:notesMasterId xmlns:r="http://schemas.openxmlformats.org/officeDocument/2006/relationships" r:id="R1eb62608517848f0"/>
  </p:notesMasterIdLst>
  <p:sldIdLst>
    <p:sldId xmlns:r="http://schemas.openxmlformats.org/officeDocument/2006/relationships" id="256" r:id="Reb3391205c7e4f09"/>
    <p:sldId xmlns:r="http://schemas.openxmlformats.org/officeDocument/2006/relationships" id="257" r:id="R04ef749ee20e46c9"/>
    <p:sldId xmlns:r="http://schemas.openxmlformats.org/officeDocument/2006/relationships" id="258" r:id="R3b59ea6965374ec8"/>
    <p:sldId xmlns:r="http://schemas.openxmlformats.org/officeDocument/2006/relationships" id="259" r:id="R947be6a029f2413c"/>
    <p:sldId xmlns:r="http://schemas.openxmlformats.org/officeDocument/2006/relationships" id="260" r:id="Rb9ce2dd47df54367"/>
    <p:sldId xmlns:r="http://schemas.openxmlformats.org/officeDocument/2006/relationships" id="261" r:id="R54eed2fbf1804829"/>
    <p:sldId xmlns:r="http://schemas.openxmlformats.org/officeDocument/2006/relationships" id="262" r:id="R365e24a9d2f24056"/>
    <p:sldId xmlns:r="http://schemas.openxmlformats.org/officeDocument/2006/relationships" id="263" r:id="R0f312ab512b84de8"/>
    <p:sldId xmlns:r="http://schemas.openxmlformats.org/officeDocument/2006/relationships" id="264" r:id="R26ab5c76c5424617"/>
    <p:sldId xmlns:r="http://schemas.openxmlformats.org/officeDocument/2006/relationships" id="265" r:id="R87c4f2c7999d48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a8e76b61bf4c08" /><Relationship Type="http://schemas.openxmlformats.org/officeDocument/2006/relationships/slideMaster" Target="/ppt/slideMasters/slideMaster1.xml" Id="Rf1722ab7a57b4a37" /><Relationship Type="http://schemas.openxmlformats.org/officeDocument/2006/relationships/notesMaster" Target="/ppt/notesMasters/notesMaster1.xml" Id="R1eb62608517848f0" /><Relationship Type="http://schemas.openxmlformats.org/officeDocument/2006/relationships/presProps" Target="/ppt/presProps.xml" Id="R77dda121416d4105" /><Relationship Type="http://schemas.openxmlformats.org/officeDocument/2006/relationships/tableStyles" Target="/ppt/tableStyles.xml" Id="Re1b0a6d6dc9e48e0" /><Relationship Type="http://schemas.openxmlformats.org/officeDocument/2006/relationships/slide" Target="/ppt/slides/slide1.xml" Id="Reb3391205c7e4f09" /><Relationship Type="http://schemas.openxmlformats.org/officeDocument/2006/relationships/slide" Target="/ppt/slides/slide2.xml" Id="R04ef749ee20e46c9" /><Relationship Type="http://schemas.openxmlformats.org/officeDocument/2006/relationships/slide" Target="/ppt/slides/slide3.xml" Id="R3b59ea6965374ec8" /><Relationship Type="http://schemas.openxmlformats.org/officeDocument/2006/relationships/slide" Target="/ppt/slides/slide4.xml" Id="R947be6a029f2413c" /><Relationship Type="http://schemas.openxmlformats.org/officeDocument/2006/relationships/slide" Target="/ppt/slides/slide5.xml" Id="Rb9ce2dd47df54367" /><Relationship Type="http://schemas.openxmlformats.org/officeDocument/2006/relationships/slide" Target="/ppt/slides/slide6.xml" Id="R54eed2fbf1804829" /><Relationship Type="http://schemas.openxmlformats.org/officeDocument/2006/relationships/slide" Target="/ppt/slides/slide7.xml" Id="R365e24a9d2f24056" /><Relationship Type="http://schemas.openxmlformats.org/officeDocument/2006/relationships/slide" Target="/ppt/slides/slide8.xml" Id="R0f312ab512b84de8" /><Relationship Type="http://schemas.openxmlformats.org/officeDocument/2006/relationships/slide" Target="/ppt/slides/slide9.xml" Id="R26ab5c76c5424617" /><Relationship Type="http://schemas.openxmlformats.org/officeDocument/2006/relationships/slide" Target="/ppt/slides/slide10.xml" Id="R87c4f2c7999d48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d464b018e64b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34c7ae7947481e" /><Relationship Type="http://schemas.openxmlformats.org/officeDocument/2006/relationships/notesMaster" Target="/ppt/notesMasters/notesMaster1.xml" Id="Rd97e5c49b6f94e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56e7baf35743db" /><Relationship Type="http://schemas.openxmlformats.org/officeDocument/2006/relationships/notesMaster" Target="/ppt/notesMasters/notesMaster1.xml" Id="R5db501de31c54b1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3f22f53f8d44fb" /><Relationship Type="http://schemas.openxmlformats.org/officeDocument/2006/relationships/notesMaster" Target="/ppt/notesMasters/notesMaster1.xml" Id="Rf882ea80c3634a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8131e5d5274983" /><Relationship Type="http://schemas.openxmlformats.org/officeDocument/2006/relationships/notesMaster" Target="/ppt/notesMasters/notesMaster1.xml" Id="R34eca0dc0ca24a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3fb97f7c964de7" /><Relationship Type="http://schemas.openxmlformats.org/officeDocument/2006/relationships/notesMaster" Target="/ppt/notesMasters/notesMaster1.xml" Id="R4a29ab54428141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89a94d4ccdc4956" /><Relationship Type="http://schemas.openxmlformats.org/officeDocument/2006/relationships/notesMaster" Target="/ppt/notesMasters/notesMaster1.xml" Id="R55f1fa40ab8946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be52740f264ddd" /><Relationship Type="http://schemas.openxmlformats.org/officeDocument/2006/relationships/notesMaster" Target="/ppt/notesMasters/notesMaster1.xml" Id="R2aac089b16ca40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4fef03d26047d0" /><Relationship Type="http://schemas.openxmlformats.org/officeDocument/2006/relationships/notesMaster" Target="/ppt/notesMasters/notesMaster1.xml" Id="R23df967becf244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5bd1ee33014cf6" /><Relationship Type="http://schemas.openxmlformats.org/officeDocument/2006/relationships/notesMaster" Target="/ppt/notesMasters/notesMaster1.xml" Id="R391307e6f58547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24154072fd42ce" /><Relationship Type="http://schemas.openxmlformats.org/officeDocument/2006/relationships/notesMaster" Target="/ppt/notesMasters/notesMaster1.xml" Id="R7dda96c657204a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b6d1b379840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7589a1b55649c5" /><Relationship Type="http://schemas.openxmlformats.org/officeDocument/2006/relationships/slideLayout" Target="/ppt/slideLayouts/slideLayout1.xml" Id="Rbef0756f239845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f0756f239845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f923783af465b" /><Relationship Type="http://schemas.openxmlformats.org/officeDocument/2006/relationships/notesSlide" Target="/ppt/notesSlides/notesSlide1.xml" Id="R377ea59f026c49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13400399604761" /><Relationship Type="http://schemas.openxmlformats.org/officeDocument/2006/relationships/notesSlide" Target="/ppt/notesSlides/notesSlide2.xml" Id="R22911d6443d447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70b2cac6d49c0" /><Relationship Type="http://schemas.openxmlformats.org/officeDocument/2006/relationships/notesSlide" Target="/ppt/notesSlides/notesSlide3.xml" Id="R30ce4c51a5fe49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02174ce914267" /><Relationship Type="http://schemas.openxmlformats.org/officeDocument/2006/relationships/image" Target="/ppt/media/image.png" Id="Rfa7ea38e7bf1419e" /><Relationship Type="http://schemas.openxmlformats.org/officeDocument/2006/relationships/notesSlide" Target="/ppt/notesSlides/notesSlide4.xml" Id="R5f90e40ac36c42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d1d0ec7974fbd" /><Relationship Type="http://schemas.openxmlformats.org/officeDocument/2006/relationships/notesSlide" Target="/ppt/notesSlides/notesSlide5.xml" Id="R2960eb72ba1044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cc49992df4bd0" /><Relationship Type="http://schemas.openxmlformats.org/officeDocument/2006/relationships/image" Target="/ppt/media/image2.png" Id="R736066f6fde04a19" /><Relationship Type="http://schemas.openxmlformats.org/officeDocument/2006/relationships/notesSlide" Target="/ppt/notesSlides/notesSlide6.xml" Id="Rec52656a7e824e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7efa089544351" /><Relationship Type="http://schemas.openxmlformats.org/officeDocument/2006/relationships/image" Target="/ppt/media/image3.png" Id="R025d0b0c8e5f43b4" /><Relationship Type="http://schemas.openxmlformats.org/officeDocument/2006/relationships/notesSlide" Target="/ppt/notesSlides/notesSlide7.xml" Id="R90a827d67b74421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739da9a6a46a9" /><Relationship Type="http://schemas.openxmlformats.org/officeDocument/2006/relationships/image" Target="/ppt/media/image4.png" Id="R4bd2654d7e0e4abf" /><Relationship Type="http://schemas.openxmlformats.org/officeDocument/2006/relationships/notesSlide" Target="/ppt/notesSlides/notesSlide8.xml" Id="R25f5a687493946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d844a0c0a74970" /><Relationship Type="http://schemas.openxmlformats.org/officeDocument/2006/relationships/image" Target="/ppt/media/image5.png" Id="R8d5b0a20a28b47c8" /><Relationship Type="http://schemas.openxmlformats.org/officeDocument/2006/relationships/notesSlide" Target="/ppt/notesSlides/notesSlide9.xml" Id="Raf39bc12fdec4d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70d4a54794590" /><Relationship Type="http://schemas.openxmlformats.org/officeDocument/2006/relationships/notesSlide" Target="/ppt/notesSlides/notesSlide10.xml" Id="R4fb92ea37c36413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04C84F3-359B-42A4-A6AF-3EB4847E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CED22CF2-0C03-4434-85F5-76E068A1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"/>
            <a:ext cx="6191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КВАЛІФІКАЦІЙНА РОБОТА · ПЗПІз-22-1</a:t>
            </a:r>
          </a:p>
        </p:txBody>
      </p:sp>
      <p:sp>
        <p:nvSpPr>
          <p:cNvPr id="3" name="cover-meta">
            <a:extLst xmlns:a="http://schemas.openxmlformats.org/drawingml/2006/main">
              <a:ext uri="{FF2B5EF4-FFF2-40B4-BE49-F238E27FC236}">
                <a16:creationId xmlns:a16="http://schemas.microsoft.com/office/drawing/2014/main" id="{2C51FB21-7E84-4F8E-AA94-CF55B46A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0050"/>
            <a:ext cx="3905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Дмитро Дудка · керівник доц. Бабій А.С.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71E3F5A-3AE6-4DCB-A912-721772DB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19375"/>
            <a:ext cx="10668000" cy="3238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Веб орієнтована система
обліку витрат часу працівників
логістичного підприємства</a:t>
            </a:r>
          </a:p>
        </p:txBody>
      </p:sp>
    </p:spTree>
    <p:extLst>
      <p:ext uri="{BB962C8B-B14F-4D97-AF65-F5344CB8AC3E}">
        <p14:creationId xmlns:p14="http://schemas.microsoft.com/office/powerpoint/2010/main" val="51807679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EC3FDF80-80FE-4E10-BC30-0574B469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0B802C-34ED-42ED-8194-5C08C1FD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Розрізнені табелі не дають контрольованої вартості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A6C4619-5620-4B21-BCF0-CCEE9AAF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4" name="problem-context">
            <a:extLst xmlns:a="http://schemas.openxmlformats.org/drawingml/2006/main">
              <a:ext uri="{FF2B5EF4-FFF2-40B4-BE49-F238E27FC236}">
                <a16:creationId xmlns:a16="http://schemas.microsoft.com/office/drawing/2014/main" id="{1344409B-E840-4EFB-811B-69641C29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90625"/>
            <a:ext cx="11382375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Години у файлах і повідомленнях важко пов'язати із замовленням, ставкою та рішенням менеджера. Після зміни ставки історична сума може стати невідтворюваною.</a:t>
            </a:r>
          </a:p>
        </p:txBody>
      </p:sp>
      <p:sp>
        <p:nvSpPr>
          <p:cNvPr id="5" name="before-panel">
            <a:extLst xmlns:a="http://schemas.openxmlformats.org/drawingml/2006/main">
              <a:ext uri="{FF2B5EF4-FFF2-40B4-BE49-F238E27FC236}">
                <a16:creationId xmlns:a16="http://schemas.microsoft.com/office/drawing/2014/main" id="{84A24538-2E26-471B-8DE2-8A3DACB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54768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before-title">
            <a:extLst xmlns:a="http://schemas.openxmlformats.org/drawingml/2006/main">
              <a:ext uri="{FF2B5EF4-FFF2-40B4-BE49-F238E27FC236}">
                <a16:creationId xmlns:a16="http://schemas.microsoft.com/office/drawing/2014/main" id="{43D6D46F-F814-478E-8A6E-05673382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0537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Було: рядок без контексту</a:t>
            </a:r>
          </a:p>
        </p:txBody>
      </p:sp>
      <p:sp>
        <p:nvSpPr>
          <p:cNvPr id="7" name="before-list">
            <a:extLst xmlns:a="http://schemas.openxmlformats.org/drawingml/2006/main">
              <a:ext uri="{FF2B5EF4-FFF2-40B4-BE49-F238E27FC236}">
                <a16:creationId xmlns:a16="http://schemas.microsoft.com/office/drawing/2014/main" id="{833E546E-527F-48DA-A488-51DFEBFA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905375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Кілька версій файла
Неформальне погодження
Редагування після звіту</a:t>
            </a:r>
          </a:p>
        </p:txBody>
      </p:sp>
      <p:sp>
        <p:nvSpPr>
          <p:cNvPr id="8" name="after-panel">
            <a:extLst xmlns:a="http://schemas.openxmlformats.org/drawingml/2006/main">
              <a:ext uri="{FF2B5EF4-FFF2-40B4-BE49-F238E27FC236}">
                <a16:creationId xmlns:a16="http://schemas.microsoft.com/office/drawing/2014/main" id="{FA54F1AC-F57F-4DE4-9FD9-46FB15C9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547687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9050">
            <a:solidFill>
              <a:srgbClr val="12A594"/>
            </a:solidFill>
            <a:prstDash val="solid"/>
          </a:ln>
        </p:spPr>
      </p:sp>
      <p:sp>
        <p:nvSpPr>
          <p:cNvPr id="9" name="after-title">
            <a:extLst xmlns:a="http://schemas.openxmlformats.org/drawingml/2006/main">
              <a:ext uri="{FF2B5EF4-FFF2-40B4-BE49-F238E27FC236}">
                <a16:creationId xmlns:a16="http://schemas.microsoft.com/office/drawing/2014/main" id="{ABC3FD20-C8B6-43BA-AC17-3D062472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33750"/>
            <a:ext cx="490537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Стало: первинний запис часу</a:t>
            </a:r>
          </a:p>
        </p:txBody>
      </p:sp>
      <p:sp>
        <p:nvSpPr>
          <p:cNvPr id="10" name="after-list">
            <a:extLst xmlns:a="http://schemas.openxmlformats.org/drawingml/2006/main">
              <a:ext uri="{FF2B5EF4-FFF2-40B4-BE49-F238E27FC236}">
                <a16:creationId xmlns:a16="http://schemas.microsoft.com/office/drawing/2014/main" id="{48183901-1DC3-47C2-BD40-AB79A1F6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05250"/>
            <a:ext cx="4905375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Працівник + задача + замовлення
Знімок ставки і точна вартість
Статус, менеджер і аудит</a:t>
            </a:r>
          </a:p>
        </p:txBody>
      </p:sp>
    </p:spTree>
    <p:extLst>
      <p:ext uri="{BB962C8B-B14F-4D97-AF65-F5344CB8AC3E}">
        <p14:creationId xmlns:p14="http://schemas.microsoft.com/office/powerpoint/2010/main" val="37486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35AB4BC9-669F-42E7-B025-25A5053B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C1F1A9-9D68-4DDA-B051-A2BB9303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6844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Чотири ролі розділяють введення, контроль і звітність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EF9E2DD-8AA4-4A5D-A3CE-85647D14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4" name="role-admin">
            <a:extLst xmlns:a="http://schemas.openxmlformats.org/drawingml/2006/main">
              <a:ext uri="{FF2B5EF4-FFF2-40B4-BE49-F238E27FC236}">
                <a16:creationId xmlns:a16="http://schemas.microsoft.com/office/drawing/2014/main" id="{D5035827-DBD9-4FFE-A8D1-79372B55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48577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Адміністратор</a:t>
            </a:r>
          </a:p>
        </p:txBody>
      </p:sp>
      <p:sp>
        <p:nvSpPr>
          <p:cNvPr id="5" name="role-admin-body">
            <a:extLst xmlns:a="http://schemas.openxmlformats.org/drawingml/2006/main">
              <a:ext uri="{FF2B5EF4-FFF2-40B4-BE49-F238E27FC236}">
                <a16:creationId xmlns:a16="http://schemas.microsoft.com/office/drawing/2014/main" id="{2CB0E9B3-B554-41D6-92F6-2C847638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33625"/>
            <a:ext cx="4762500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Створює акаунти, профілі, ставки та клієнтів.</a:t>
            </a:r>
          </a:p>
        </p:txBody>
      </p:sp>
      <p:sp>
        <p:nvSpPr>
          <p:cNvPr id="6" name="role-manager">
            <a:extLst xmlns:a="http://schemas.openxmlformats.org/drawingml/2006/main">
              <a:ext uri="{FF2B5EF4-FFF2-40B4-BE49-F238E27FC236}">
                <a16:creationId xmlns:a16="http://schemas.microsoft.com/office/drawing/2014/main" id="{19D525EE-B887-4C6E-B82F-00341424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8577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Менеджер</a:t>
            </a:r>
          </a:p>
        </p:txBody>
      </p:sp>
      <p:sp>
        <p:nvSpPr>
          <p:cNvPr id="7" name="role-manager-body">
            <a:extLst xmlns:a="http://schemas.openxmlformats.org/drawingml/2006/main">
              <a:ext uri="{FF2B5EF4-FFF2-40B4-BE49-F238E27FC236}">
                <a16:creationId xmlns:a16="http://schemas.microsoft.com/office/drawing/2014/main" id="{8445368E-FD06-43B3-896C-0596C8F3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4762500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Веде власні замовлення, задачі та погоджує поданий час.</a:t>
            </a:r>
          </a:p>
        </p:txBody>
      </p:sp>
      <p:sp>
        <p:nvSpPr>
          <p:cNvPr id="8" name="role-employee">
            <a:extLst xmlns:a="http://schemas.openxmlformats.org/drawingml/2006/main">
              <a:ext uri="{FF2B5EF4-FFF2-40B4-BE49-F238E27FC236}">
                <a16:creationId xmlns:a16="http://schemas.microsoft.com/office/drawing/2014/main" id="{BD5C16FA-49EA-4148-8D32-BBDCE190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48577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Працівник</a:t>
            </a:r>
          </a:p>
        </p:txBody>
      </p:sp>
      <p:sp>
        <p:nvSpPr>
          <p:cNvPr id="9" name="role-employee-body">
            <a:extLst xmlns:a="http://schemas.openxmlformats.org/drawingml/2006/main">
              <a:ext uri="{FF2B5EF4-FFF2-40B4-BE49-F238E27FC236}">
                <a16:creationId xmlns:a16="http://schemas.microsoft.com/office/drawing/2014/main" id="{C0618D6A-0DB7-4C06-B35A-C9542777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9625"/>
            <a:ext cx="4762500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Бачить призначені замовлення і працює лише з власним табелем.</a:t>
            </a:r>
          </a:p>
        </p:txBody>
      </p:sp>
      <p:sp>
        <p:nvSpPr>
          <p:cNvPr id="10" name="role-accountant">
            <a:extLst xmlns:a="http://schemas.openxmlformats.org/drawingml/2006/main">
              <a:ext uri="{FF2B5EF4-FFF2-40B4-BE49-F238E27FC236}">
                <a16:creationId xmlns:a16="http://schemas.microsoft.com/office/drawing/2014/main" id="{26C9D65D-ACD0-428E-8AC6-37E625A0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48577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Бухгалтер</a:t>
            </a:r>
          </a:p>
        </p:txBody>
      </p:sp>
      <p:sp>
        <p:nvSpPr>
          <p:cNvPr id="11" name="role-accountant-body">
            <a:extLst xmlns:a="http://schemas.openxmlformats.org/drawingml/2006/main">
              <a:ext uri="{FF2B5EF4-FFF2-40B4-BE49-F238E27FC236}">
                <a16:creationId xmlns:a16="http://schemas.microsoft.com/office/drawing/2014/main" id="{7295322C-B309-4191-BB5B-99E6A7FA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19625"/>
            <a:ext cx="4762500" cy="904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Переглядає години й вартість та експортує XLSX без зміни рішень.</a:t>
            </a:r>
          </a:p>
        </p:txBody>
      </p:sp>
    </p:spTree>
    <p:extLst>
      <p:ext uri="{BB962C8B-B14F-4D97-AF65-F5344CB8AC3E}">
        <p14:creationId xmlns:p14="http://schemas.microsoft.com/office/powerpoint/2010/main" val="2145222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F521C26E-4A9A-4AFD-B778-73376782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83FF70-547E-4006-8B97-9773D8C4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Дані зв'язують працівника з фактичною роботою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FBA1A78-3504-45D2-A3DC-B9FA2821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4" name="model-kicker">
            <a:extLst xmlns:a="http://schemas.openxmlformats.org/drawingml/2006/main">
              <a:ext uri="{FF2B5EF4-FFF2-40B4-BE49-F238E27FC236}">
                <a16:creationId xmlns:a16="http://schemas.microsoft.com/office/drawing/2014/main" id="{87B8C084-9268-4A03-870F-AACB8970A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4857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Сім предметних сутностей</a:t>
            </a:r>
          </a:p>
        </p:txBody>
      </p:sp>
      <p:sp>
        <p:nvSpPr>
          <p:cNvPr id="5" name="model-body">
            <a:extLst xmlns:a="http://schemas.openxmlformats.org/drawingml/2006/main">
              <a:ext uri="{FF2B5EF4-FFF2-40B4-BE49-F238E27FC236}">
                <a16:creationId xmlns:a16="http://schemas.microsoft.com/office/drawing/2014/main" id="{862C2172-A490-4760-B4F9-B2827B64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524125"/>
            <a:ext cx="4953000" cy="2667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EmployeeProfile зберігає ставку. LogisticsOrder задає маршрут і менеджера. OrderTask деталізує роботу. TimeEntry фіксує години, знімок ставки, вартість і статус. TimeEntryHistory відтворює ключові переходи.</a:t>
            </a:r>
          </a:p>
        </p:txBody>
      </p:sp>
      <p:sp>
        <p:nvSpPr>
          <p:cNvPr id="6" name="model-image-frame">
            <a:extLst xmlns:a="http://schemas.openxmlformats.org/drawingml/2006/main">
              <a:ext uri="{FF2B5EF4-FFF2-40B4-BE49-F238E27FC236}">
                <a16:creationId xmlns:a16="http://schemas.microsoft.com/office/drawing/2014/main" id="{24A14D8F-8104-452F-8E3E-6242B43D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238250"/>
            <a:ext cx="59817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ea38e7bf1419e"/>
          <a:stretch xmlns:a="http://schemas.openxmlformats.org/drawingml/2006/main"/>
        </p:blipFill>
        <p:spPr>
          <a:xfrm xmlns:a="http://schemas.openxmlformats.org/drawingml/2006/main">
            <a:off x="5905500" y="1809750"/>
            <a:ext cx="5791200" cy="3619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116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3332B23F-51F5-410D-9686-7F9BBA5D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334F3F-8CAE-41C1-A268-64B1A68B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Запис проходить контрольований життєвий цикл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AF80A82-E782-4C98-A808-914A84BB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05</a:t>
            </a:r>
          </a:p>
        </p:txBody>
      </p:sp>
      <p:sp>
        <p:nvSpPr>
          <p:cNvPr id="4" name="timeline">
            <a:extLst xmlns:a="http://schemas.openxmlformats.org/drawingml/2006/main">
              <a:ext uri="{FF2B5EF4-FFF2-40B4-BE49-F238E27FC236}">
                <a16:creationId xmlns:a16="http://schemas.microsoft.com/office/drawing/2014/main" id="{F37941E3-74F6-47BE-8162-F12C6012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620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5" name="dot-1">
            <a:extLst xmlns:a="http://schemas.openxmlformats.org/drawingml/2006/main">
              <a:ext uri="{FF2B5EF4-FFF2-40B4-BE49-F238E27FC236}">
                <a16:creationId xmlns:a16="http://schemas.microsoft.com/office/drawing/2014/main" id="{D4E6E5FB-8C31-49B6-95E8-C4FA26B6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594"/>
          </a:solidFill>
        </p:spPr>
      </p:sp>
      <p:sp>
        <p:nvSpPr>
          <p:cNvPr id="6" name="dot-2">
            <a:extLst xmlns:a="http://schemas.openxmlformats.org/drawingml/2006/main">
              <a:ext uri="{FF2B5EF4-FFF2-40B4-BE49-F238E27FC236}">
                <a16:creationId xmlns:a16="http://schemas.microsoft.com/office/drawing/2014/main" id="{0C0FD2F8-C86F-4E7B-8F80-528E3E1D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43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594"/>
          </a:solidFill>
        </p:spPr>
      </p:sp>
      <p:sp>
        <p:nvSpPr>
          <p:cNvPr id="7" name="dot-3">
            <a:extLst xmlns:a="http://schemas.openxmlformats.org/drawingml/2006/main">
              <a:ext uri="{FF2B5EF4-FFF2-40B4-BE49-F238E27FC236}">
                <a16:creationId xmlns:a16="http://schemas.microsoft.com/office/drawing/2014/main" id="{89F63D46-36E9-4225-B07D-F37EB5BC2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1432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A594"/>
          </a:solidFill>
        </p:spPr>
      </p:sp>
      <p:sp>
        <p:nvSpPr>
          <p:cNvPr id="8" name="stage-1-title">
            <a:extLst xmlns:a="http://schemas.openxmlformats.org/drawingml/2006/main">
              <a:ext uri="{FF2B5EF4-FFF2-40B4-BE49-F238E27FC236}">
                <a16:creationId xmlns:a16="http://schemas.microsoft.com/office/drawing/2014/main" id="{22852918-BF2F-48F6-95A3-1F1C1E86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1 · Чернетка</a:t>
            </a:r>
          </a:p>
        </p:txBody>
      </p:sp>
      <p:sp>
        <p:nvSpPr>
          <p:cNvPr id="9" name="stage-1-body">
            <a:extLst xmlns:a="http://schemas.openxmlformats.org/drawingml/2006/main">
              <a:ext uri="{FF2B5EF4-FFF2-40B4-BE49-F238E27FC236}">
                <a16:creationId xmlns:a16="http://schemas.microsoft.com/office/drawing/2014/main" id="{AFECB962-F2D6-48AB-857A-18DCFA7E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3048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Працівник обирає доступну задачу. Сервер перевіряє 0 &lt; години ≤ 24, фіксує ставку й рахує вартість.</a:t>
            </a:r>
          </a:p>
        </p:txBody>
      </p:sp>
      <p:sp>
        <p:nvSpPr>
          <p:cNvPr id="10" name="stage-2-title">
            <a:extLst xmlns:a="http://schemas.openxmlformats.org/drawingml/2006/main">
              <a:ext uri="{FF2B5EF4-FFF2-40B4-BE49-F238E27FC236}">
                <a16:creationId xmlns:a16="http://schemas.microsoft.com/office/drawing/2014/main" id="{85A65BC6-29D0-4D15-A9EB-9C7D603E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667125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2 · Подання</a:t>
            </a:r>
          </a:p>
        </p:txBody>
      </p:sp>
      <p:sp>
        <p:nvSpPr>
          <p:cNvPr id="11" name="stage-2-body">
            <a:extLst xmlns:a="http://schemas.openxmlformats.org/drawingml/2006/main">
              <a:ext uri="{FF2B5EF4-FFF2-40B4-BE49-F238E27FC236}">
                <a16:creationId xmlns:a16="http://schemas.microsoft.com/office/drawing/2014/main" id="{605D4363-7547-438B-8760-ED5D0CEE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38625"/>
            <a:ext cx="3048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Власник подає чернетку. Стан і подія аудиту зберігаються в одній транзакції.</a:t>
            </a:r>
          </a:p>
        </p:txBody>
      </p:sp>
      <p:sp>
        <p:nvSpPr>
          <p:cNvPr id="12" name="stage-3-title">
            <a:extLst xmlns:a="http://schemas.openxmlformats.org/drawingml/2006/main">
              <a:ext uri="{FF2B5EF4-FFF2-40B4-BE49-F238E27FC236}">
                <a16:creationId xmlns:a16="http://schemas.microsoft.com/office/drawing/2014/main" id="{2CB9B23C-6B55-4FD9-B843-20C139D0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3 · Рішення</a:t>
            </a:r>
          </a:p>
        </p:txBody>
      </p:sp>
      <p:sp>
        <p:nvSpPr>
          <p:cNvPr id="13" name="stage-3-body">
            <a:extLst xmlns:a="http://schemas.openxmlformats.org/drawingml/2006/main">
              <a:ext uri="{FF2B5EF4-FFF2-40B4-BE49-F238E27FC236}">
                <a16:creationId xmlns:a16="http://schemas.microsoft.com/office/drawing/2014/main" id="{8068ACA8-3BA0-4DDD-9EFF-BC67540C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38625"/>
            <a:ext cx="30480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Менеджер власного замовлення погоджує або відхиляє. Погоджений запис стає незмінним.</a:t>
            </a:r>
          </a:p>
        </p:txBody>
      </p:sp>
    </p:spTree>
    <p:extLst>
      <p:ext uri="{BB962C8B-B14F-4D97-AF65-F5344CB8AC3E}">
        <p14:creationId xmlns:p14="http://schemas.microsoft.com/office/powerpoint/2010/main" val="19251212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4F288F50-0B76-4A6A-8739-F96D4150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3B86787-B09A-44AA-AE47-8D255CE4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7106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Замовлення показує маршрут, задачі й відповідальних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A4D1954-AAB0-4AE7-8C68-10004EEA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4" name="order-callout">
            <a:extLst xmlns:a="http://schemas.openxmlformats.org/drawingml/2006/main">
              <a:ext uri="{FF2B5EF4-FFF2-40B4-BE49-F238E27FC236}">
                <a16:creationId xmlns:a16="http://schemas.microsoft.com/office/drawing/2014/main" id="{21028FD0-0F6E-4AB2-9367-225D2929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62125"/>
            <a:ext cx="3429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ORD-2026-001</a:t>
            </a:r>
          </a:p>
        </p:txBody>
      </p:sp>
      <p:sp>
        <p:nvSpPr>
          <p:cNvPr id="5" name="order-explain">
            <a:extLst xmlns:a="http://schemas.openxmlformats.org/drawingml/2006/main">
              <a:ext uri="{FF2B5EF4-FFF2-40B4-BE49-F238E27FC236}">
                <a16:creationId xmlns:a16="http://schemas.microsoft.com/office/drawing/2014/main" id="{0689095C-341C-422A-8428-B0B21BCB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4000500" cy="2381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Менеджер бачить тільки власні замовлення. Працівник бачить лише ті, до яких його призначено. Та сама вибірка захищає і список, і прямий URL.</a:t>
            </a:r>
          </a:p>
        </p:txBody>
      </p:sp>
      <p:sp>
        <p:nvSpPr>
          <p:cNvPr id="6" name="order-image-frame">
            <a:extLst xmlns:a="http://schemas.openxmlformats.org/drawingml/2006/main">
              <a:ext uri="{FF2B5EF4-FFF2-40B4-BE49-F238E27FC236}">
                <a16:creationId xmlns:a16="http://schemas.microsoft.com/office/drawing/2014/main" id="{525337BD-FCB8-4C41-A8E1-FDCFADBF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85875"/>
            <a:ext cx="69818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066f6fde04a19"/>
          <a:stretch xmlns:a="http://schemas.openxmlformats.org/drawingml/2006/main"/>
        </p:blipFill>
        <p:spPr>
          <a:xfrm xmlns:a="http://schemas.openxmlformats.org/drawingml/2006/main">
            <a:off x="4905375" y="1544836"/>
            <a:ext cx="6791325" cy="4244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91244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5173F3E9-3F75-4D3D-B686-4261AB1E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3D70D2-CEA6-4DB7-A800-10AB8FA8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2077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Погодження доступне лише менеджеру цього замовлення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2C5409A-367D-4E65-B137-8CB4E66D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4" name="approval-kicker">
            <a:extLst xmlns:a="http://schemas.openxmlformats.org/drawingml/2006/main">
              <a:ext uri="{FF2B5EF4-FFF2-40B4-BE49-F238E27FC236}">
                <a16:creationId xmlns:a16="http://schemas.microsoft.com/office/drawing/2014/main" id="{ECAC79BE-FFBE-4960-BCCF-08794E0A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7147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Захист від IDOR</a:t>
            </a:r>
          </a:p>
        </p:txBody>
      </p:sp>
      <p:sp>
        <p:nvSpPr>
          <p:cNvPr id="5" name="approval-body">
            <a:extLst xmlns:a="http://schemas.openxmlformats.org/drawingml/2006/main">
              <a:ext uri="{FF2B5EF4-FFF2-40B4-BE49-F238E27FC236}">
                <a16:creationId xmlns:a16="http://schemas.microsoft.com/office/drawing/2014/main" id="{61CD02BF-871A-44AB-BFA4-02385F4A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28875"/>
            <a:ext cx="400050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Об'єкт отримується через звужений queryset. Чужий менеджер не бачить запис у черзі та отримує 404 за прямим ідентифікатором.</a:t>
            </a:r>
          </a:p>
        </p:txBody>
      </p:sp>
      <p:sp>
        <p:nvSpPr>
          <p:cNvPr id="6" name="approval-note">
            <a:extLst xmlns:a="http://schemas.openxmlformats.org/drawingml/2006/main">
              <a:ext uri="{FF2B5EF4-FFF2-40B4-BE49-F238E27FC236}">
                <a16:creationId xmlns:a16="http://schemas.microsoft.com/office/drawing/2014/main" id="{63B0D34C-6C50-4E58-BA76-28EA4538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400050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Відхилення вимагає причину, щоб працівник міг виправити й повторно подати запис.</a:t>
            </a:r>
          </a:p>
        </p:txBody>
      </p:sp>
      <p:sp>
        <p:nvSpPr>
          <p:cNvPr id="7" name="approval-image-frame">
            <a:extLst xmlns:a="http://schemas.openxmlformats.org/drawingml/2006/main">
              <a:ext uri="{FF2B5EF4-FFF2-40B4-BE49-F238E27FC236}">
                <a16:creationId xmlns:a16="http://schemas.microsoft.com/office/drawing/2014/main" id="{35A2C1E4-8EFA-45ED-B7D3-74A540455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85875"/>
            <a:ext cx="69818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d0b0c8e5f43b4"/>
          <a:stretch xmlns:a="http://schemas.openxmlformats.org/drawingml/2006/main"/>
        </p:blipFill>
        <p:spPr>
          <a:xfrm xmlns:a="http://schemas.openxmlformats.org/drawingml/2006/main">
            <a:off x="4905375" y="1544836"/>
            <a:ext cx="6791325" cy="4244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58065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2077E80C-28E1-44CD-8C16-3CD5BE1D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838A3D-0420-451F-9814-F2B5E382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Звіт використовує зафіксовану ставку, а не поточну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B63A0F4-B2F2-4A86-A9C6-448AFF3E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4" name="formula">
            <a:extLst xmlns:a="http://schemas.openxmlformats.org/drawingml/2006/main">
              <a:ext uri="{FF2B5EF4-FFF2-40B4-BE49-F238E27FC236}">
                <a16:creationId xmlns:a16="http://schemas.microsoft.com/office/drawing/2014/main" id="{C13BE376-0322-4D84-B9EB-CDFF3AAF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05000"/>
            <a:ext cx="409575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6336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cost = hours × rate_snapshot</a:t>
            </a:r>
          </a:p>
        </p:txBody>
      </p:sp>
      <p:sp>
        <p:nvSpPr>
          <p:cNvPr id="5" name="formula-body">
            <a:extLst xmlns:a="http://schemas.openxmlformats.org/drawingml/2006/main">
              <a:ext uri="{FF2B5EF4-FFF2-40B4-BE49-F238E27FC236}">
                <a16:creationId xmlns:a16="http://schemas.microsoft.com/office/drawing/2014/main" id="{5941CE4A-BB30-4476-BB90-F6BF7C9E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62250"/>
            <a:ext cx="400050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Decimal забезпечує точний розрахунок і округлення до двох знаків. HTML та XLSX формуються з однакової рольової вибірки.</a:t>
            </a:r>
          </a:p>
        </p:txBody>
      </p:sp>
      <p:sp>
        <p:nvSpPr>
          <p:cNvPr id="6" name="formula-example">
            <a:extLst xmlns:a="http://schemas.openxmlformats.org/drawingml/2006/main">
              <a:ext uri="{FF2B5EF4-FFF2-40B4-BE49-F238E27FC236}">
                <a16:creationId xmlns:a16="http://schemas.microsoft.com/office/drawing/2014/main" id="{E9517CC7-0952-4939-85C6-E472E86A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409575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2,50 × 280,00 = 700,00 грн</a:t>
            </a:r>
          </a:p>
        </p:txBody>
      </p:sp>
      <p:sp>
        <p:nvSpPr>
          <p:cNvPr id="7" name="report-image-frame">
            <a:extLst xmlns:a="http://schemas.openxmlformats.org/drawingml/2006/main">
              <a:ext uri="{FF2B5EF4-FFF2-40B4-BE49-F238E27FC236}">
                <a16:creationId xmlns:a16="http://schemas.microsoft.com/office/drawing/2014/main" id="{734C76E3-8D68-48D7-B664-40967D57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85875"/>
            <a:ext cx="69818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d2654d7e0e4abf"/>
          <a:stretch xmlns:a="http://schemas.openxmlformats.org/drawingml/2006/main"/>
        </p:blipFill>
        <p:spPr>
          <a:xfrm xmlns:a="http://schemas.openxmlformats.org/drawingml/2006/main">
            <a:off x="4905375" y="1544836"/>
            <a:ext cx="6791325" cy="4244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4210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EBF7BD1-D4EE-4282-91B9-A2DDF3D9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D5E656-D6C7-4F7D-9F46-A561964CC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9937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Production-контур відокремлює веб, застосунок і дані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80F31C6-75DE-4FBF-9495-B09A2D25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4" name="deploy-sec">
            <a:extLst xmlns:a="http://schemas.openxmlformats.org/drawingml/2006/main">
              <a:ext uri="{FF2B5EF4-FFF2-40B4-BE49-F238E27FC236}">
                <a16:creationId xmlns:a16="http://schemas.microsoft.com/office/drawing/2014/main" id="{28013CB1-E309-498E-B66D-84EF7DF0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40005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HTTPS · secure cookies · HSTS</a:t>
            </a:r>
          </a:p>
        </p:txBody>
      </p:sp>
      <p:sp>
        <p:nvSpPr>
          <p:cNvPr id="5" name="deploy-body">
            <a:extLst xmlns:a="http://schemas.openxmlformats.org/drawingml/2006/main">
              <a:ext uri="{FF2B5EF4-FFF2-40B4-BE49-F238E27FC236}">
                <a16:creationId xmlns:a16="http://schemas.microsoft.com/office/drawing/2014/main" id="{FF051B41-2362-4BC8-BF42-818DD8F9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400050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Nginx завершує TLS і проксіює Unix-сокет. Gunicorn працює під systemd. PostgreSQL має окремого користувача. pg_dump створює архіви зі строком зберігання 30 днів.</a:t>
            </a:r>
          </a:p>
        </p:txBody>
      </p:sp>
      <p:sp>
        <p:nvSpPr>
          <p:cNvPr id="6" name="deploy-image-frame">
            <a:extLst xmlns:a="http://schemas.openxmlformats.org/drawingml/2006/main">
              <a:ext uri="{FF2B5EF4-FFF2-40B4-BE49-F238E27FC236}">
                <a16:creationId xmlns:a16="http://schemas.microsoft.com/office/drawing/2014/main" id="{5876396B-428D-45CB-845B-B613B753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285875"/>
            <a:ext cx="6981825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b0a20a28b47c8"/>
          <a:stretch xmlns:a="http://schemas.openxmlformats.org/drawingml/2006/main"/>
        </p:blipFill>
        <p:spPr>
          <a:xfrm xmlns:a="http://schemas.openxmlformats.org/drawingml/2006/main">
            <a:off x="4905375" y="1544836"/>
            <a:ext cx="6791325" cy="4244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921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ule">
            <a:extLst xmlns:a="http://schemas.openxmlformats.org/drawingml/2006/main">
              <a:ext uri="{FF2B5EF4-FFF2-40B4-BE49-F238E27FC236}">
                <a16:creationId xmlns:a16="http://schemas.microsoft.com/office/drawing/2014/main" id="{F22708DD-6E9D-4988-BBD5-6BB22592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A594"/>
          </a:solidFill>
          <a:ln xmlns:a="http://schemas.openxmlformats.org/drawingml/2006/main" w="0">
            <a:solidFill>
              <a:srgbClr val="12A594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8DB333-6E87-4509-89A6-814B2ED5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0668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84875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Мета досягнута: час став контрольованим первинним записом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607081-76DB-44A3-972B-7AE02BB4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62700"/>
            <a:ext cx="514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10</a:t>
            </a:r>
          </a:p>
        </p:txBody>
      </p:sp>
      <p:sp>
        <p:nvSpPr>
          <p:cNvPr id="4" name="outcome-context">
            <a:extLst xmlns:a="http://schemas.openxmlformats.org/drawingml/2006/main">
              <a:ext uri="{FF2B5EF4-FFF2-40B4-BE49-F238E27FC236}">
                <a16:creationId xmlns:a16="http://schemas.microsoft.com/office/drawing/2014/main" id="{4E9DD363-BD78-44D2-9AF9-C2C5D3F5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90625"/>
            <a:ext cx="11382375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Від замовлення до XLSX зберігається один ланцюг даних: працівник, задача, години, ставка, вартість, рішення й аудит.</a:t>
            </a:r>
          </a:p>
        </p:txBody>
      </p:sp>
      <p:sp>
        <p:nvSpPr>
          <p:cNvPr id="5" name="metric-1">
            <a:extLst xmlns:a="http://schemas.openxmlformats.org/drawingml/2006/main">
              <a:ext uri="{FF2B5EF4-FFF2-40B4-BE49-F238E27FC236}">
                <a16:creationId xmlns:a16="http://schemas.microsoft.com/office/drawing/2014/main" id="{04DEE250-6640-402A-AD2D-0D21A6F6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00375"/>
            <a:ext cx="35623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6" name="metric-2">
            <a:extLst xmlns:a="http://schemas.openxmlformats.org/drawingml/2006/main">
              <a:ext uri="{FF2B5EF4-FFF2-40B4-BE49-F238E27FC236}">
                <a16:creationId xmlns:a16="http://schemas.microsoft.com/office/drawing/2014/main" id="{3AA00E78-FF55-4842-B557-3E41EA18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00375"/>
            <a:ext cx="35623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9050">
            <a:solidFill>
              <a:srgbClr val="12A594"/>
            </a:solidFill>
            <a:prstDash val="solid"/>
          </a:ln>
        </p:spPr>
      </p:sp>
      <p:sp>
        <p:nvSpPr>
          <p:cNvPr id="7" name="metric-3">
            <a:extLst xmlns:a="http://schemas.openxmlformats.org/drawingml/2006/main">
              <a:ext uri="{FF2B5EF4-FFF2-40B4-BE49-F238E27FC236}">
                <a16:creationId xmlns:a16="http://schemas.microsoft.com/office/drawing/2014/main" id="{FD2AF8EE-015B-404F-8C3F-2EB4783F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0375"/>
            <a:ext cx="3562350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8" name="metric-tests">
            <a:extLst xmlns:a="http://schemas.openxmlformats.org/drawingml/2006/main">
              <a:ext uri="{FF2B5EF4-FFF2-40B4-BE49-F238E27FC236}">
                <a16:creationId xmlns:a16="http://schemas.microsoft.com/office/drawing/2014/main" id="{773AFA34-2964-4D34-8C5B-972E4176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857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15</a:t>
            </a:r>
          </a:p>
        </p:txBody>
      </p:sp>
      <p:sp>
        <p:nvSpPr>
          <p:cNvPr id="9" name="metric-tests-body">
            <a:extLst xmlns:a="http://schemas.openxmlformats.org/drawingml/2006/main">
              <a:ext uri="{FF2B5EF4-FFF2-40B4-BE49-F238E27FC236}">
                <a16:creationId xmlns:a16="http://schemas.microsoft.com/office/drawing/2014/main" id="{A7D2ADE4-4E9A-4740-A316-EC70A9F2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57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автоматизованих тестів
усі завершено успішно</a:t>
            </a:r>
          </a:p>
        </p:txBody>
      </p:sp>
      <p:sp>
        <p:nvSpPr>
          <p:cNvPr id="10" name="metric-roles">
            <a:extLst xmlns:a="http://schemas.openxmlformats.org/drawingml/2006/main">
              <a:ext uri="{FF2B5EF4-FFF2-40B4-BE49-F238E27FC236}">
                <a16:creationId xmlns:a16="http://schemas.microsoft.com/office/drawing/2014/main" id="{A736F65C-9ED1-4B5D-8654-0CB31BE2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81375"/>
            <a:ext cx="2857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2A594"/>
                </a:solidFill>
                <a:latin typeface="Arial"/>
                <a:ea typeface="Arial"/>
                <a:cs typeface="Arial"/>
              </a:defRPr>
            </a:pPr>
            <a:r>
              <a:t>4</a:t>
            </a:r>
          </a:p>
        </p:txBody>
      </p:sp>
      <p:sp>
        <p:nvSpPr>
          <p:cNvPr id="11" name="metric-roles-body">
            <a:extLst xmlns:a="http://schemas.openxmlformats.org/drawingml/2006/main">
              <a:ext uri="{FF2B5EF4-FFF2-40B4-BE49-F238E27FC236}">
                <a16:creationId xmlns:a16="http://schemas.microsoft.com/office/drawing/2014/main" id="{638BC40A-FA1D-41BC-94B6-B454F897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72000"/>
            <a:ext cx="2857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ролі з серверним
об'єктним доступом</a:t>
            </a:r>
          </a:p>
        </p:txBody>
      </p:sp>
      <p:sp>
        <p:nvSpPr>
          <p:cNvPr id="12" name="metric-failures">
            <a:extLst xmlns:a="http://schemas.openxmlformats.org/drawingml/2006/main">
              <a:ext uri="{FF2B5EF4-FFF2-40B4-BE49-F238E27FC236}">
                <a16:creationId xmlns:a16="http://schemas.microsoft.com/office/drawing/2014/main" id="{E826C1B3-FA31-488F-9FE2-7AD7D7E5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81375"/>
            <a:ext cx="2857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02D46"/>
                </a:solidFill>
                <a:latin typeface="Arial"/>
                <a:ea typeface="Arial"/>
                <a:cs typeface="Arial"/>
              </a:defRPr>
            </a:pPr>
            <a:r>
              <a:t>0</a:t>
            </a:r>
          </a:p>
        </p:txBody>
      </p:sp>
      <p:sp>
        <p:nvSpPr>
          <p:cNvPr id="13" name="metric-failures-body">
            <a:extLst xmlns:a="http://schemas.openxmlformats.org/drawingml/2006/main">
              <a:ext uri="{FF2B5EF4-FFF2-40B4-BE49-F238E27FC236}">
                <a16:creationId xmlns:a16="http://schemas.microsoft.com/office/drawing/2014/main" id="{5A4B254A-28A4-4E96-94A4-B923A788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72000"/>
            <a:ext cx="2857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07487"/>
                </a:solidFill>
                <a:latin typeface="Arial"/>
                <a:ea typeface="Arial"/>
                <a:cs typeface="Arial"/>
              </a:defRPr>
            </a:pPr>
            <a:r>
              <a:t>помилок Django check
готова відтворювана демоверсія</a:t>
            </a:r>
          </a:p>
        </p:txBody>
      </p:sp>
    </p:spTree>
    <p:extLst>
      <p:ext uri="{BB962C8B-B14F-4D97-AF65-F5344CB8AC3E}">
        <p14:creationId xmlns:p14="http://schemas.microsoft.com/office/powerpoint/2010/main" val="1532962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2026-07-15T17:11:41.2370000Z</dcterms:created>
  <dcterms:modified xsi:type="dcterms:W3CDTF">2026-07-15T17:11:41.2370000Z</dcterms:modified>
</coreProperties>
</file>