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d916c8d12de4292" /><Relationship Type="http://schemas.openxmlformats.org/officeDocument/2006/relationships/extended-properties" Target="/docProps/app.xml" Id="R3d5877f6f8b14742" /><Relationship Type="http://schemas.openxmlformats.org/officeDocument/2006/relationships/officeDocument" Target="/ppt/presentation.xml" Id="Re37e306ca4c14539" /></Relationships>
</file>

<file path=ppt/presentation.xml><?xml version="1.0" encoding="utf-8"?>
<p:presentation xmlns:p="http://schemas.openxmlformats.org/presentationml/2006/main" embedTrueTypeFonts="1" saveSubsetFonts="1">
  <p:sldMasterIdLst>
    <p:sldMasterId xmlns:r="http://schemas.openxmlformats.org/officeDocument/2006/relationships" id="2147483648" r:id="R57e9ba5227e245b7"/>
  </p:sldMasterIdLst>
  <p:notesMasterIdLst>
    <p:notesMasterId xmlns:r="http://schemas.openxmlformats.org/officeDocument/2006/relationships" r:id="R6cd10aa64bef47e2"/>
  </p:notesMasterIdLst>
  <p:sldIdLst>
    <p:sldId xmlns:r="http://schemas.openxmlformats.org/officeDocument/2006/relationships" id="256" r:id="R2fb74d33225a4aa1"/>
    <p:sldId xmlns:r="http://schemas.openxmlformats.org/officeDocument/2006/relationships" id="257" r:id="R7afb214278974d0a"/>
    <p:sldId xmlns:r="http://schemas.openxmlformats.org/officeDocument/2006/relationships" id="258" r:id="Reef5499621464b39"/>
    <p:sldId xmlns:r="http://schemas.openxmlformats.org/officeDocument/2006/relationships" id="259" r:id="R14e258248e214c19"/>
    <p:sldId xmlns:r="http://schemas.openxmlformats.org/officeDocument/2006/relationships" id="260" r:id="R0517eafc4c214284"/>
    <p:sldId xmlns:r="http://schemas.openxmlformats.org/officeDocument/2006/relationships" id="261" r:id="R5e6400a657ed4d54"/>
    <p:sldId xmlns:r="http://schemas.openxmlformats.org/officeDocument/2006/relationships" id="262" r:id="Rbcc21da744304fd7"/>
    <p:sldId xmlns:r="http://schemas.openxmlformats.org/officeDocument/2006/relationships" id="263" r:id="R88f1ee0733e2476f"/>
    <p:sldId xmlns:r="http://schemas.openxmlformats.org/officeDocument/2006/relationships" id="264" r:id="R841699edbb894e9e"/>
    <p:sldId xmlns:r="http://schemas.openxmlformats.org/officeDocument/2006/relationships" id="265" r:id="Rd2e1964f9a164f29"/>
  </p:sldIdLst>
  <p:sldSz cx="9144000" cy="5143500"/>
  <p:notesSz cx="6858000" cy="9144000"/>
  <p:embeddedFontLst>
    <p:embeddedFont>
      <p:font typeface="Economica"/>
      <p:regular xmlns:r="http://schemas.openxmlformats.org/officeDocument/2006/relationships" r:id="R04688d1dd67a4eb9"/>
      <p:bold xmlns:r="http://schemas.openxmlformats.org/officeDocument/2006/relationships" r:id="Re2528651c6684cd4"/>
      <p:italic xmlns:r="http://schemas.openxmlformats.org/officeDocument/2006/relationships" r:id="R2bec99b0681d421a"/>
      <p:boldItalic xmlns:r="http://schemas.openxmlformats.org/officeDocument/2006/relationships" r:id="Rf427c860294b4ce1"/>
    </p:embeddedFont>
    <p:embeddedFont>
      <p:font typeface="Open Sans"/>
      <p:regular xmlns:r="http://schemas.openxmlformats.org/officeDocument/2006/relationships" r:id="R93f8b5e092144376"/>
      <p:bold xmlns:r="http://schemas.openxmlformats.org/officeDocument/2006/relationships" r:id="R4278f6477faf4520"/>
      <p:italic xmlns:r="http://schemas.openxmlformats.org/officeDocument/2006/relationships" r:id="Rcae26cb05bd14fe4"/>
      <p:boldItalic xmlns:r="http://schemas.openxmlformats.org/officeDocument/2006/relationships" r:id="Red454a1e0cef40b9"/>
    </p:embeddedFont>
  </p:embeddedFontLst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Средний стиль 2 —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13649113d914b59" /><Relationship Type="http://schemas.openxmlformats.org/officeDocument/2006/relationships/slideMaster" Target="/ppt/slideMasters/slideMaster1.xml" Id="R57e9ba5227e245b7" /><Relationship Type="http://schemas.openxmlformats.org/officeDocument/2006/relationships/notesMaster" Target="/ppt/notesMasters/notesMaster1.xml" Id="R6cd10aa64bef47e2" /><Relationship Type="http://schemas.openxmlformats.org/officeDocument/2006/relationships/presProps" Target="/ppt/presProps.xml" Id="Refcef4c6c7624bb6" /><Relationship Type="http://schemas.openxmlformats.org/officeDocument/2006/relationships/viewProps" Target="/ppt/viewProps.xml" Id="R1e136cbe942d4322" /><Relationship Type="http://schemas.openxmlformats.org/officeDocument/2006/relationships/tableStyles" Target="/ppt/tableStyles.xml" Id="R21ddbdc089814b8a" /><Relationship Type="http://schemas.openxmlformats.org/officeDocument/2006/relationships/font" Target="/ppt/fonts/font.dat" Id="R04688d1dd67a4eb9" /><Relationship Type="http://schemas.openxmlformats.org/officeDocument/2006/relationships/font" Target="/ppt/fonts/font2.dat" Id="Re2528651c6684cd4" /><Relationship Type="http://schemas.openxmlformats.org/officeDocument/2006/relationships/font" Target="/ppt/fonts/font3.dat" Id="R2bec99b0681d421a" /><Relationship Type="http://schemas.openxmlformats.org/officeDocument/2006/relationships/font" Target="/ppt/fonts/font4.dat" Id="Rf427c860294b4ce1" /><Relationship Type="http://schemas.openxmlformats.org/officeDocument/2006/relationships/font" Target="/ppt/fonts/font5.dat" Id="R93f8b5e092144376" /><Relationship Type="http://schemas.openxmlformats.org/officeDocument/2006/relationships/font" Target="/ppt/fonts/font6.dat" Id="R4278f6477faf4520" /><Relationship Type="http://schemas.openxmlformats.org/officeDocument/2006/relationships/font" Target="/ppt/fonts/font7.dat" Id="Rcae26cb05bd14fe4" /><Relationship Type="http://schemas.openxmlformats.org/officeDocument/2006/relationships/font" Target="/ppt/fonts/font8.dat" Id="Red454a1e0cef40b9" /><Relationship Type="http://schemas.openxmlformats.org/officeDocument/2006/relationships/slide" Target="/ppt/slides/slide1.xml" Id="R2fb74d33225a4aa1" /><Relationship Type="http://schemas.openxmlformats.org/officeDocument/2006/relationships/slide" Target="/ppt/slides/slide2.xml" Id="R7afb214278974d0a" /><Relationship Type="http://schemas.openxmlformats.org/officeDocument/2006/relationships/slide" Target="/ppt/slides/slide3.xml" Id="Reef5499621464b39" /><Relationship Type="http://schemas.openxmlformats.org/officeDocument/2006/relationships/slide" Target="/ppt/slides/slide4.xml" Id="R14e258248e214c19" /><Relationship Type="http://schemas.openxmlformats.org/officeDocument/2006/relationships/slide" Target="/ppt/slides/slide5.xml" Id="R0517eafc4c214284" /><Relationship Type="http://schemas.openxmlformats.org/officeDocument/2006/relationships/slide" Target="/ppt/slides/slide6.xml" Id="R5e6400a657ed4d54" /><Relationship Type="http://schemas.openxmlformats.org/officeDocument/2006/relationships/slide" Target="/ppt/slides/slide7.xml" Id="Rbcc21da744304fd7" /><Relationship Type="http://schemas.openxmlformats.org/officeDocument/2006/relationships/slide" Target="/ppt/slides/slide8.xml" Id="R88f1ee0733e2476f" /><Relationship Type="http://schemas.openxmlformats.org/officeDocument/2006/relationships/slide" Target="/ppt/slides/slide9.xml" Id="R841699edbb894e9e" /><Relationship Type="http://schemas.openxmlformats.org/officeDocument/2006/relationships/slide" Target="/ppt/slides/slide10.xml" Id="Rd2e1964f9a164f2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4b1834e825f458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Шаблон презентації кваліфікаційної роботи магістрів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57BB8A"/>
      </a:accent3>
      <a:accent4>
        <a:srgbClr val="78909C"/>
      </a:accent4>
      <a:accent5>
        <a:srgbClr val="607D8B"/>
      </a:accent5>
      <a:accent6>
        <a:srgbClr val="DCE755"/>
      </a:accent6>
      <a:hlink>
        <a:srgbClr val="607D8B"/>
      </a:hlink>
      <a:folHlink>
        <a:srgbClr val="607D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ux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4722254f86f4efe" /><Relationship Type="http://schemas.openxmlformats.org/officeDocument/2006/relationships/notesMaster" Target="/ppt/notesMasters/notesMaster1.xml" Id="Racba1e7a1504496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4df87597b4b4e6c" /><Relationship Type="http://schemas.openxmlformats.org/officeDocument/2006/relationships/notesMaster" Target="/ppt/notesMasters/notesMaster1.xml" Id="R16c72b1d17c74e3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55cb36c548644d1" /><Relationship Type="http://schemas.openxmlformats.org/officeDocument/2006/relationships/notesMaster" Target="/ppt/notesMasters/notesMaster1.xml" Id="R23f632da71d546e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c29e6aa59ad40be" /><Relationship Type="http://schemas.openxmlformats.org/officeDocument/2006/relationships/notesMaster" Target="/ppt/notesMasters/notesMaster1.xml" Id="R563d62f5883e44c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2b6226ce9904b2e" /><Relationship Type="http://schemas.openxmlformats.org/officeDocument/2006/relationships/notesMaster" Target="/ppt/notesMasters/notesMaster1.xml" Id="R6b53e132646b4df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47ee834adce4d99" /><Relationship Type="http://schemas.openxmlformats.org/officeDocument/2006/relationships/notesMaster" Target="/ppt/notesMasters/notesMaster1.xml" Id="Ref3a8305bcf942a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95b405b75204bd9" /><Relationship Type="http://schemas.openxmlformats.org/officeDocument/2006/relationships/notesMaster" Target="/ppt/notesMasters/notesMaster1.xml" Id="R9bb5759deb434e7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af2676d54d74854" /><Relationship Type="http://schemas.openxmlformats.org/officeDocument/2006/relationships/notesMaster" Target="/ppt/notesMasters/notesMaster1.xml" Id="Rb0f24acd5c014c2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f87524510b14ff4" /><Relationship Type="http://schemas.openxmlformats.org/officeDocument/2006/relationships/notesMaster" Target="/ppt/notesMasters/notesMaster1.xml" Id="R09a98e2461904c7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4c7265d56ea48d7" /><Relationship Type="http://schemas.openxmlformats.org/officeDocument/2006/relationships/notesMaster" Target="/ppt/notesMasters/notesMaster1.xml" Id="Rfa1fb2deabd3436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latin typeface="Arial"/>
                <a:ea typeface="Arial"/>
                <a:cs typeface="Arial"/>
              </a:rPr>
              <a:t>Доброго дня, </a:t>
            </a:r>
            <a:r>
              <a:rPr sz="1800">
                <a:latin typeface="Arial"/>
                <a:ea typeface="Arial"/>
                <a:cs typeface="Arial"/>
              </a:rPr>
              <a:t>шановна</a:t>
            </a:r>
            <a:r>
              <a:rPr sz="1800">
                <a:latin typeface="Arial"/>
                <a:ea typeface="Arial"/>
                <a:cs typeface="Arial"/>
              </a:rPr>
              <a:t> ком</a:t>
            </a:r>
            <a:r>
              <a:rPr sz="1800">
                <a:latin typeface="Arial"/>
                <a:ea typeface="Arial"/>
                <a:cs typeface="Arial"/>
              </a:rPr>
              <a:t>ісія</a:t>
            </a:r>
            <a:r>
              <a:rPr sz="1800">
                <a:latin typeface="Arial"/>
                <a:ea typeface="Arial"/>
                <a:cs typeface="Arial"/>
              </a:rPr>
              <a:t>. Хочу представити на ваш розгляд мобільний додаток для управління та синхронізації </a:t>
            </a:r>
            <a:r>
              <a:rPr sz="1800">
                <a:latin typeface="Arial"/>
                <a:ea typeface="Arial"/>
                <a:cs typeface="Arial"/>
              </a:rPr>
              <a:t>галереї</a:t>
            </a:r>
            <a:r>
              <a:rPr sz="1800">
                <a:latin typeface="Arial"/>
                <a:ea typeface="Arial"/>
                <a:cs typeface="Arial"/>
              </a:rPr>
              <a:t> телефону з хмарою </a:t>
            </a:r>
            <a:r>
              <a:rPr sz="1800">
                <a:latin typeface="Arial"/>
                <a:ea typeface="Arial"/>
                <a:cs typeface="Arial"/>
              </a:rPr>
              <a:t>Telegram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Метою </a:t>
            </a:r>
            <a:r>
              <a:t>роботи</a:t>
            </a:r>
            <a:r>
              <a:t> є </a:t>
            </a:r>
            <a:r>
              <a:t>вирішення</a:t>
            </a:r>
            <a:r>
              <a:t> </a:t>
            </a:r>
            <a:r>
              <a:t>частих</a:t>
            </a:r>
            <a:r>
              <a:t> проблем </a:t>
            </a:r>
            <a:r>
              <a:t>зберігання</a:t>
            </a:r>
            <a:r>
              <a:t> медіафайлів на </a:t>
            </a:r>
            <a:r>
              <a:t>мобільних</a:t>
            </a:r>
            <a:r>
              <a:t> пристроях.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Актуальність</a:t>
            </a:r>
            <a:r>
              <a:t> </a:t>
            </a:r>
            <a:r>
              <a:t>роботи</a:t>
            </a:r>
            <a:r>
              <a:t> </a:t>
            </a:r>
            <a:r>
              <a:t>полягає</a:t>
            </a:r>
            <a:r>
              <a:t> у тому, </a:t>
            </a:r>
            <a:r>
              <a:t>що</a:t>
            </a:r>
            <a:r>
              <a:t> з </a:t>
            </a:r>
            <a:r>
              <a:t>розвитком</a:t>
            </a:r>
            <a:r>
              <a:t> </a:t>
            </a:r>
            <a:r>
              <a:t>технологій</a:t>
            </a:r>
            <a:r>
              <a:t> і </a:t>
            </a:r>
            <a:r>
              <a:t>зростанням</a:t>
            </a:r>
            <a:r>
              <a:t> </a:t>
            </a:r>
            <a:r>
              <a:t>популярності</a:t>
            </a:r>
            <a:r>
              <a:t> </a:t>
            </a:r>
            <a:r>
              <a:t>соціальних</a:t>
            </a:r>
            <a:r>
              <a:t> мереж, у </a:t>
            </a:r>
            <a:r>
              <a:t>користувачів</a:t>
            </a:r>
            <a:r>
              <a:t> </a:t>
            </a:r>
            <a:r>
              <a:t>телефонів</a:t>
            </a:r>
            <a:r>
              <a:t> </a:t>
            </a:r>
            <a:r>
              <a:t>частіше</a:t>
            </a:r>
            <a:r>
              <a:t> </a:t>
            </a:r>
            <a:r>
              <a:t>виникають</a:t>
            </a:r>
            <a:r>
              <a:t> </a:t>
            </a:r>
            <a:r>
              <a:t>такі</a:t>
            </a:r>
            <a:r>
              <a:t> </a:t>
            </a:r>
            <a:r>
              <a:t>проблеми</a:t>
            </a:r>
            <a:r>
              <a:t>, як: </a:t>
            </a:r>
            <a:r>
              <a:t>нестача</a:t>
            </a:r>
            <a:r>
              <a:t> </a:t>
            </a:r>
            <a:r>
              <a:t>вільного</a:t>
            </a:r>
            <a:r>
              <a:t> </a:t>
            </a:r>
            <a:r>
              <a:t>місця</a:t>
            </a:r>
            <a:r>
              <a:t> на пристроях, </a:t>
            </a:r>
            <a:r>
              <a:t>ризик</a:t>
            </a:r>
            <a:r>
              <a:t> </a:t>
            </a:r>
            <a:r>
              <a:t>втрати</a:t>
            </a:r>
            <a:r>
              <a:t> </a:t>
            </a:r>
            <a:r>
              <a:t>важливих</a:t>
            </a:r>
            <a:r>
              <a:t> </a:t>
            </a:r>
            <a:r>
              <a:t>даних</a:t>
            </a:r>
            <a:r>
              <a:t>, проблема </a:t>
            </a:r>
            <a:r>
              <a:t>організації</a:t>
            </a:r>
            <a:r>
              <a:t> </a:t>
            </a:r>
            <a:r>
              <a:t>спільної</a:t>
            </a:r>
            <a:r>
              <a:t> </a:t>
            </a:r>
            <a:r>
              <a:t>галереї</a:t>
            </a:r>
            <a:r>
              <a:t>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Ці</a:t>
            </a:r>
            <a:r>
              <a:t> </a:t>
            </a:r>
            <a:r>
              <a:t>проблеми</a:t>
            </a:r>
            <a:r>
              <a:t> </a:t>
            </a:r>
            <a:r>
              <a:t>можна</a:t>
            </a:r>
            <a:r>
              <a:t> </a:t>
            </a:r>
            <a:r>
              <a:t>спробувати</a:t>
            </a:r>
            <a:r>
              <a:t> </a:t>
            </a:r>
            <a:r>
              <a:t>вирішити</a:t>
            </a:r>
            <a:r>
              <a:t> за </a:t>
            </a:r>
            <a:r>
              <a:t>допомогою</a:t>
            </a:r>
            <a:r>
              <a:t> </a:t>
            </a:r>
            <a:r>
              <a:t>хмарних</a:t>
            </a:r>
            <a:r>
              <a:t> </a:t>
            </a:r>
            <a:r>
              <a:t>сховищ</a:t>
            </a:r>
            <a:r>
              <a:t>, </a:t>
            </a:r>
            <a:r>
              <a:t>але</a:t>
            </a:r>
            <a:r>
              <a:t> </a:t>
            </a:r>
            <a:r>
              <a:t>зазвичай</a:t>
            </a:r>
            <a:r>
              <a:t> вони дорого </a:t>
            </a:r>
            <a:r>
              <a:t>коштують</a:t>
            </a:r>
            <a:r>
              <a:t>, а також </a:t>
            </a:r>
            <a:r>
              <a:t>можуть</a:t>
            </a:r>
            <a:r>
              <a:t> </a:t>
            </a:r>
            <a:r>
              <a:t>псувати</a:t>
            </a:r>
            <a:r>
              <a:t> </a:t>
            </a:r>
            <a:r>
              <a:t>якість</a:t>
            </a:r>
            <a:r>
              <a:t> </a:t>
            </a:r>
            <a:r>
              <a:t>зображень</a:t>
            </a:r>
            <a:r>
              <a:t> та </a:t>
            </a:r>
            <a:r>
              <a:t>відео</a:t>
            </a:r>
            <a:r>
              <a:t> через </a:t>
            </a:r>
            <a:r>
              <a:t>стискання</a:t>
            </a:r>
            <a:r>
              <a:t> </a:t>
            </a:r>
            <a:r>
              <a:t>файлів</a:t>
            </a:r>
            <a:r>
              <a:t>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Проаналізувавши</a:t>
            </a:r>
            <a:r>
              <a:t> </a:t>
            </a:r>
            <a:r>
              <a:t>існучі</a:t>
            </a:r>
            <a:r>
              <a:t> аналоги, </a:t>
            </a:r>
            <a:r>
              <a:t>була</a:t>
            </a:r>
            <a:r>
              <a:t> поставлена задача, яка </a:t>
            </a:r>
            <a:r>
              <a:t>полягає</a:t>
            </a:r>
            <a:r>
              <a:t> у </a:t>
            </a:r>
            <a:r>
              <a:t>створенні</a:t>
            </a:r>
            <a:r>
              <a:t> </a:t>
            </a:r>
            <a:r>
              <a:t>мобільного</a:t>
            </a:r>
            <a:r>
              <a:t> </a:t>
            </a:r>
            <a:r>
              <a:t>додатку</a:t>
            </a:r>
            <a:r>
              <a:t>, </a:t>
            </a:r>
            <a:r>
              <a:t>який</a:t>
            </a:r>
            <a:r>
              <a:t> </a:t>
            </a:r>
            <a:r>
              <a:t>забезпечить</a:t>
            </a:r>
            <a:r>
              <a:t> </a:t>
            </a:r>
            <a:r>
              <a:t>можливість</a:t>
            </a:r>
            <a:r>
              <a:t> </a:t>
            </a:r>
            <a:r>
              <a:t>збереження</a:t>
            </a:r>
            <a:r>
              <a:t> </a:t>
            </a:r>
            <a:r>
              <a:t>файлів</a:t>
            </a:r>
            <a:r>
              <a:t> </a:t>
            </a:r>
            <a:r>
              <a:t>галереї</a:t>
            </a:r>
            <a:r>
              <a:t> телефону у </a:t>
            </a:r>
            <a:r>
              <a:t>необмеженому</a:t>
            </a:r>
            <a:r>
              <a:t> </a:t>
            </a:r>
            <a:r>
              <a:t>хмарному</a:t>
            </a:r>
            <a:r>
              <a:t> </a:t>
            </a:r>
            <a:r>
              <a:t>сховищі</a:t>
            </a:r>
            <a:r>
              <a:t> без </a:t>
            </a:r>
            <a:r>
              <a:t>втрати</a:t>
            </a:r>
            <a:r>
              <a:t> </a:t>
            </a:r>
            <a:r>
              <a:t>якості</a:t>
            </a:r>
            <a:r>
              <a:t> з метою </a:t>
            </a:r>
            <a:r>
              <a:t>створення</a:t>
            </a:r>
            <a:r>
              <a:t> </a:t>
            </a:r>
            <a:r>
              <a:t>бекапу</a:t>
            </a:r>
            <a:r>
              <a:t> та/</a:t>
            </a:r>
            <a:r>
              <a:t>або</a:t>
            </a:r>
            <a:r>
              <a:t> </a:t>
            </a:r>
            <a:r>
              <a:t>звільнення</a:t>
            </a:r>
            <a:r>
              <a:t> </a:t>
            </a:r>
            <a:r>
              <a:t>місця</a:t>
            </a:r>
            <a:r>
              <a:t> на </a:t>
            </a:r>
            <a:r>
              <a:t>телефоні</a:t>
            </a:r>
            <a:r>
              <a:t>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Очікуваними</a:t>
            </a:r>
            <a:r>
              <a:t> результатами є </a:t>
            </a:r>
            <a:r>
              <a:t>повнофункціональний</a:t>
            </a:r>
            <a:r>
              <a:t> </a:t>
            </a:r>
            <a:r>
              <a:t>застосунок</a:t>
            </a:r>
            <a:r>
              <a:t> </a:t>
            </a:r>
            <a:r>
              <a:t>зі</a:t>
            </a:r>
            <a:r>
              <a:t> </a:t>
            </a:r>
            <a:r>
              <a:t>зручним</a:t>
            </a:r>
            <a:r>
              <a:t> та </a:t>
            </a:r>
            <a:r>
              <a:t>сучасним</a:t>
            </a:r>
            <a:r>
              <a:t> </a:t>
            </a:r>
            <a:r>
              <a:t>інтерфейсом</a:t>
            </a:r>
            <a:r>
              <a:t>, </a:t>
            </a:r>
            <a:r>
              <a:t>підтримкою</a:t>
            </a:r>
            <a:r>
              <a:t> </a:t>
            </a:r>
            <a:r>
              <a:t>синхронізації</a:t>
            </a:r>
            <a:r>
              <a:t> з </a:t>
            </a:r>
            <a:r>
              <a:t>хмарним</a:t>
            </a:r>
            <a:r>
              <a:t> </a:t>
            </a:r>
            <a:r>
              <a:t>сховищем</a:t>
            </a:r>
            <a:r>
              <a:t> </a:t>
            </a:r>
            <a:r>
              <a:t>Telegram, </a:t>
            </a:r>
            <a:r>
              <a:t>актуальних</a:t>
            </a:r>
            <a:r>
              <a:t> </a:t>
            </a:r>
            <a:r>
              <a:t>методів</a:t>
            </a:r>
            <a:r>
              <a:t> перегляду </a:t>
            </a:r>
            <a:r>
              <a:t>галереї</a:t>
            </a:r>
            <a:r>
              <a:t>, фото та </a:t>
            </a:r>
            <a:r>
              <a:t>відео</a:t>
            </a:r>
            <a:r>
              <a:t>, а також з </a:t>
            </a:r>
            <a:r>
              <a:t>підтримкою</a:t>
            </a:r>
            <a:r>
              <a:t> </a:t>
            </a:r>
            <a:r>
              <a:t>масштабування</a:t>
            </a:r>
            <a:r>
              <a:t> для </a:t>
            </a:r>
            <a:r>
              <a:t>мільйонів</a:t>
            </a:r>
            <a:r>
              <a:t> </a:t>
            </a:r>
            <a:r>
              <a:t>користувачів</a:t>
            </a:r>
            <a:r>
              <a:t>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ER-</a:t>
            </a:r>
            <a:r>
              <a:t>діагрма</a:t>
            </a:r>
            <a:r>
              <a:t> </a:t>
            </a:r>
            <a:r>
              <a:t>містить </a:t>
            </a:r>
            <a:r>
              <a:t>сутності зі </a:t>
            </a:r>
            <a:r>
              <a:t>зв’язками</a:t>
            </a:r>
            <a:r>
              <a:t> типу «один-до-</a:t>
            </a:r>
            <a:r>
              <a:t>багатьох</a:t>
            </a:r>
            <a:r>
              <a:t>» та «</a:t>
            </a:r>
            <a:r>
              <a:t>багато</a:t>
            </a:r>
            <a:r>
              <a:t>-до-</a:t>
            </a:r>
            <a:r>
              <a:t>багатьох</a:t>
            </a:r>
            <a:r>
              <a:t>» через </a:t>
            </a:r>
            <a:r>
              <a:t>проміжні</a:t>
            </a:r>
            <a:r>
              <a:t> </a:t>
            </a:r>
            <a:r>
              <a:t>таблиці</a:t>
            </a:r>
            <a:r>
              <a:t>. База </a:t>
            </a:r>
            <a:r>
              <a:t>даних</a:t>
            </a:r>
            <a:r>
              <a:t> </a:t>
            </a:r>
            <a:r>
              <a:t>зберігає</a:t>
            </a:r>
            <a:r>
              <a:t> </a:t>
            </a:r>
            <a:r>
              <a:t>інформацію</a:t>
            </a:r>
            <a:r>
              <a:t> про </a:t>
            </a:r>
            <a:r>
              <a:t>синхронізовану</a:t>
            </a:r>
            <a:r>
              <a:t> галерею, </a:t>
            </a:r>
            <a:r>
              <a:t>альбоми</a:t>
            </a:r>
            <a:r>
              <a:t>, </a:t>
            </a:r>
            <a:r>
              <a:t>чергу</a:t>
            </a:r>
            <a:r>
              <a:t> </a:t>
            </a:r>
            <a:r>
              <a:t>завантаження</a:t>
            </a:r>
            <a:r>
              <a:t> та теги. При </a:t>
            </a:r>
            <a:r>
              <a:t>чому</a:t>
            </a:r>
            <a:r>
              <a:t> </a:t>
            </a:r>
            <a:r>
              <a:t>більша</a:t>
            </a:r>
            <a:r>
              <a:t> </a:t>
            </a:r>
            <a:r>
              <a:t>частина</a:t>
            </a:r>
            <a:r>
              <a:t> </a:t>
            </a:r>
            <a:r>
              <a:t>даних</a:t>
            </a:r>
            <a:r>
              <a:t> </a:t>
            </a:r>
            <a:r>
              <a:t>може</a:t>
            </a:r>
            <a:r>
              <a:t> бути </a:t>
            </a:r>
            <a:r>
              <a:t>швидко</a:t>
            </a:r>
            <a:r>
              <a:t> </a:t>
            </a:r>
            <a:r>
              <a:t>відновлена</a:t>
            </a:r>
            <a:r>
              <a:t> алгоритмами </a:t>
            </a:r>
            <a:r>
              <a:t>застосунку</a:t>
            </a:r>
            <a:r>
              <a:t> при </a:t>
            </a:r>
            <a:r>
              <a:t>доступі</a:t>
            </a:r>
            <a:r>
              <a:t> до </a:t>
            </a:r>
            <a:r>
              <a:t>локальної</a:t>
            </a:r>
            <a:r>
              <a:t> та </a:t>
            </a:r>
            <a:r>
              <a:t>хмарної</a:t>
            </a:r>
            <a:r>
              <a:t> </a:t>
            </a:r>
            <a:r>
              <a:t>галереї</a:t>
            </a:r>
            <a:r>
              <a:t>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latin typeface="Arial"/>
                <a:ea typeface="Arial"/>
                <a:cs typeface="Arial"/>
              </a:rPr>
              <a:t>UML-діаграма компонентів застосунку дозволяє зрозуміти, як компоненти взаємодіють між собою всередині застосунку. </a:t>
            </a:r>
            <a:r>
              <a:rPr sz="1800">
                <a:latin typeface="Arial"/>
                <a:ea typeface="Arial"/>
                <a:cs typeface="Arial"/>
              </a:rPr>
              <a:t>Проєкт</a:t>
            </a:r>
            <a:r>
              <a:rPr sz="1800">
                <a:latin typeface="Arial"/>
                <a:ea typeface="Arial"/>
                <a:cs typeface="Arial"/>
              </a:rPr>
              <a:t> складається з 3х рівнів: </a:t>
            </a:r>
            <a:r>
              <a:rPr sz="1800">
                <a:latin typeface="Arial"/>
                <a:ea typeface="Arial"/>
                <a:cs typeface="Arial"/>
              </a:rPr>
              <a:t>React</a:t>
            </a:r>
            <a:r>
              <a:rPr sz="1800">
                <a:latin typeface="Arial"/>
                <a:ea typeface="Arial"/>
                <a:cs typeface="Arial"/>
              </a:rPr>
              <a:t> – з усім </a:t>
            </a:r>
            <a:r>
              <a:rPr sz="1800">
                <a:latin typeface="Arial"/>
                <a:ea typeface="Arial"/>
                <a:cs typeface="Arial"/>
              </a:rPr>
              <a:t>високорівневим</a:t>
            </a:r>
            <a:r>
              <a:rPr sz="1800">
                <a:latin typeface="Arial"/>
                <a:ea typeface="Arial"/>
                <a:cs typeface="Arial"/>
              </a:rPr>
              <a:t> кодом на </a:t>
            </a:r>
            <a:r>
              <a:rPr sz="1800">
                <a:latin typeface="Arial"/>
                <a:ea typeface="Arial"/>
                <a:cs typeface="Arial"/>
              </a:rPr>
              <a:t>JavaScript</a:t>
            </a:r>
            <a:r>
              <a:rPr sz="1800">
                <a:latin typeface="Arial"/>
                <a:ea typeface="Arial"/>
                <a:cs typeface="Arial"/>
              </a:rPr>
              <a:t> та </a:t>
            </a:r>
            <a:r>
              <a:rPr sz="1800">
                <a:latin typeface="Arial"/>
                <a:ea typeface="Arial"/>
                <a:cs typeface="Arial"/>
              </a:rPr>
              <a:t>TypeScript</a:t>
            </a:r>
            <a:r>
              <a:rPr sz="1800">
                <a:latin typeface="Arial"/>
                <a:ea typeface="Arial"/>
                <a:cs typeface="Arial"/>
              </a:rPr>
              <a:t>, </a:t>
            </a:r>
            <a:r>
              <a:rPr sz="1800">
                <a:latin typeface="Arial"/>
                <a:ea typeface="Arial"/>
                <a:cs typeface="Arial"/>
              </a:rPr>
              <a:t>Native</a:t>
            </a:r>
            <a:r>
              <a:rPr sz="1800">
                <a:latin typeface="Arial"/>
                <a:ea typeface="Arial"/>
                <a:cs typeface="Arial"/>
              </a:rPr>
              <a:t> </a:t>
            </a:r>
            <a:r>
              <a:rPr sz="1800">
                <a:latin typeface="Arial"/>
                <a:ea typeface="Arial"/>
                <a:cs typeface="Arial"/>
              </a:rPr>
              <a:t>Bridge</a:t>
            </a:r>
            <a:r>
              <a:rPr sz="1800">
                <a:latin typeface="Arial"/>
                <a:ea typeface="Arial"/>
                <a:cs typeface="Arial"/>
              </a:rPr>
              <a:t> – з </a:t>
            </a:r>
            <a:r>
              <a:rPr sz="1800">
                <a:latin typeface="Arial"/>
                <a:ea typeface="Arial"/>
                <a:cs typeface="Arial"/>
              </a:rPr>
              <a:t>нативною</a:t>
            </a:r>
            <a:r>
              <a:rPr sz="1800">
                <a:latin typeface="Arial"/>
                <a:ea typeface="Arial"/>
                <a:cs typeface="Arial"/>
              </a:rPr>
              <a:t> логікою програми на </a:t>
            </a:r>
            <a:r>
              <a:rPr sz="1800">
                <a:latin typeface="Arial"/>
                <a:ea typeface="Arial"/>
                <a:cs typeface="Arial"/>
              </a:rPr>
              <a:t>Java</a:t>
            </a:r>
            <a:r>
              <a:rPr sz="1800">
                <a:latin typeface="Arial"/>
                <a:ea typeface="Arial"/>
                <a:cs typeface="Arial"/>
              </a:rPr>
              <a:t> та </a:t>
            </a:r>
            <a:r>
              <a:rPr sz="1800">
                <a:latin typeface="Arial"/>
                <a:ea typeface="Arial"/>
                <a:cs typeface="Arial"/>
              </a:rPr>
              <a:t>Kotlin</a:t>
            </a:r>
            <a:r>
              <a:rPr sz="1800">
                <a:latin typeface="Arial"/>
                <a:ea typeface="Arial"/>
                <a:cs typeface="Arial"/>
              </a:rPr>
              <a:t> та </a:t>
            </a:r>
            <a:r>
              <a:rPr sz="1800">
                <a:latin typeface="Arial"/>
                <a:ea typeface="Arial"/>
                <a:cs typeface="Arial"/>
              </a:rPr>
              <a:t>Native</a:t>
            </a:r>
            <a:r>
              <a:rPr sz="1800">
                <a:latin typeface="Arial"/>
                <a:ea typeface="Arial"/>
                <a:cs typeface="Arial"/>
              </a:rPr>
              <a:t> </a:t>
            </a:r>
            <a:r>
              <a:rPr sz="1800">
                <a:latin typeface="Arial"/>
                <a:ea typeface="Arial"/>
                <a:cs typeface="Arial"/>
              </a:rPr>
              <a:t>Core</a:t>
            </a:r>
            <a:r>
              <a:rPr sz="1800">
                <a:latin typeface="Arial"/>
                <a:ea typeface="Arial"/>
                <a:cs typeface="Arial"/>
              </a:rPr>
              <a:t> з методами взаємодії з операційною системою. Розроблена бібліотека </a:t>
            </a:r>
            <a:r>
              <a:rPr sz="1800">
                <a:latin typeface="Arial"/>
                <a:ea typeface="Arial"/>
                <a:cs typeface="Arial"/>
              </a:rPr>
              <a:t>react-native-tdlib</a:t>
            </a:r>
            <a:r>
              <a:rPr sz="1800">
                <a:latin typeface="Arial"/>
                <a:ea typeface="Arial"/>
                <a:cs typeface="Arial"/>
              </a:rPr>
              <a:t> знаходиться на рівні </a:t>
            </a:r>
            <a:r>
              <a:rPr sz="1800">
                <a:latin typeface="Arial"/>
                <a:ea typeface="Arial"/>
                <a:cs typeface="Arial"/>
              </a:rPr>
              <a:t>Native</a:t>
            </a:r>
            <a:r>
              <a:rPr sz="1800">
                <a:latin typeface="Arial"/>
                <a:ea typeface="Arial"/>
                <a:cs typeface="Arial"/>
              </a:rPr>
              <a:t> </a:t>
            </a:r>
            <a:r>
              <a:rPr sz="1800">
                <a:latin typeface="Arial"/>
                <a:ea typeface="Arial"/>
                <a:cs typeface="Arial"/>
              </a:rPr>
              <a:t>Bridge</a:t>
            </a:r>
            <a:r>
              <a:rPr sz="1800"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Програмна</a:t>
            </a:r>
            <a:r>
              <a:t> система </a:t>
            </a:r>
            <a:r>
              <a:t>складається</a:t>
            </a:r>
            <a:r>
              <a:t> з 3х </a:t>
            </a:r>
            <a:r>
              <a:t>частин</a:t>
            </a:r>
            <a:r>
              <a:t>: </a:t>
            </a:r>
            <a:r>
              <a:t>мобільного</a:t>
            </a:r>
            <a:r>
              <a:t> </a:t>
            </a:r>
            <a:r>
              <a:t>застосунку</a:t>
            </a:r>
            <a:r>
              <a:t> </a:t>
            </a:r>
            <a:r>
              <a:t>Lensogram</a:t>
            </a:r>
            <a:r>
              <a:t>, </a:t>
            </a:r>
            <a:r>
              <a:t>сервісу</a:t>
            </a:r>
            <a:r>
              <a:t> </a:t>
            </a:r>
            <a:r>
              <a:t>Telegram </a:t>
            </a:r>
            <a:r>
              <a:t>та </a:t>
            </a:r>
            <a:r>
              <a:t>Firebase. </a:t>
            </a:r>
            <a:r>
              <a:t>Вона </a:t>
            </a:r>
            <a:r>
              <a:t>спеціально</a:t>
            </a:r>
            <a:r>
              <a:t> </a:t>
            </a:r>
            <a:r>
              <a:t>розроблена</a:t>
            </a:r>
            <a:r>
              <a:t> таким чином, </a:t>
            </a:r>
            <a:r>
              <a:t>щоб</a:t>
            </a:r>
            <a:r>
              <a:t> не </a:t>
            </a:r>
            <a:r>
              <a:t>було</a:t>
            </a:r>
            <a:r>
              <a:t> </a:t>
            </a:r>
            <a:r>
              <a:t>необхідності</a:t>
            </a:r>
            <a:r>
              <a:t> у </a:t>
            </a:r>
            <a:r>
              <a:t>проміжних</a:t>
            </a:r>
            <a:r>
              <a:t> серверах </a:t>
            </a:r>
            <a:r>
              <a:t>між</a:t>
            </a:r>
            <a:r>
              <a:t> </a:t>
            </a:r>
            <a:r>
              <a:t>застосунком</a:t>
            </a:r>
            <a:r>
              <a:t> та </a:t>
            </a:r>
            <a:r>
              <a:t>кінцевими</a:t>
            </a:r>
            <a:r>
              <a:t> </a:t>
            </a:r>
            <a:r>
              <a:t>сервісами</a:t>
            </a:r>
            <a:r>
              <a:t>. </a:t>
            </a:r>
            <a:r>
              <a:t>Перевагами</a:t>
            </a:r>
            <a:r>
              <a:t> </a:t>
            </a:r>
            <a:r>
              <a:t>такої</a:t>
            </a:r>
            <a:r>
              <a:t> </a:t>
            </a:r>
            <a:r>
              <a:t>архітектури</a:t>
            </a:r>
            <a:r>
              <a:t> без </a:t>
            </a:r>
            <a:r>
              <a:t>посередників</a:t>
            </a:r>
            <a:r>
              <a:t> є </a:t>
            </a:r>
            <a:r>
              <a:t>швидкість</a:t>
            </a:r>
            <a:r>
              <a:t> </a:t>
            </a:r>
            <a:r>
              <a:t>роботи</a:t>
            </a:r>
            <a:r>
              <a:t>, </a:t>
            </a:r>
            <a:r>
              <a:t>безпека</a:t>
            </a:r>
            <a:r>
              <a:t> </a:t>
            </a:r>
            <a:r>
              <a:t>передачі</a:t>
            </a:r>
            <a:r>
              <a:t> </a:t>
            </a:r>
            <a:r>
              <a:t>приватних</a:t>
            </a:r>
            <a:r>
              <a:t> </a:t>
            </a:r>
            <a:r>
              <a:t>даних</a:t>
            </a:r>
            <a:r>
              <a:t>, </a:t>
            </a:r>
            <a:r>
              <a:t>легке</a:t>
            </a:r>
            <a:r>
              <a:t> </a:t>
            </a:r>
            <a:r>
              <a:t>масштабування</a:t>
            </a:r>
            <a:r>
              <a:t> та </a:t>
            </a:r>
            <a:r>
              <a:t>гнучкість</a:t>
            </a:r>
            <a:r>
              <a:t> у </a:t>
            </a:r>
            <a:r>
              <a:t>розробці</a:t>
            </a:r>
            <a:r>
              <a:t>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Проаналізувавши</a:t>
            </a:r>
            <a:r>
              <a:t> </a:t>
            </a:r>
            <a:r>
              <a:t>існучі</a:t>
            </a:r>
            <a:r>
              <a:t> аналоги, </a:t>
            </a:r>
            <a:r>
              <a:t>була</a:t>
            </a:r>
            <a:r>
              <a:t> поставлена задача, яка </a:t>
            </a:r>
            <a:r>
              <a:t>полягає</a:t>
            </a:r>
            <a:r>
              <a:t> у </a:t>
            </a:r>
            <a:r>
              <a:t>створенні</a:t>
            </a:r>
            <a:r>
              <a:t> </a:t>
            </a:r>
            <a:r>
              <a:t>мобільного</a:t>
            </a:r>
            <a:r>
              <a:t> </a:t>
            </a:r>
            <a:r>
              <a:t>додатку</a:t>
            </a:r>
            <a:r>
              <a:t>, </a:t>
            </a:r>
            <a:r>
              <a:t>який</a:t>
            </a:r>
            <a:r>
              <a:t> </a:t>
            </a:r>
            <a:r>
              <a:t>забезпечить</a:t>
            </a:r>
            <a:r>
              <a:t> </a:t>
            </a:r>
            <a:r>
              <a:t>можливість</a:t>
            </a:r>
            <a:r>
              <a:t> </a:t>
            </a:r>
            <a:r>
              <a:t>збереження</a:t>
            </a:r>
            <a:r>
              <a:t> </a:t>
            </a:r>
            <a:r>
              <a:t>файлів</a:t>
            </a:r>
            <a:r>
              <a:t> </a:t>
            </a:r>
            <a:r>
              <a:t>галереї</a:t>
            </a:r>
            <a:r>
              <a:t> телефону у </a:t>
            </a:r>
            <a:r>
              <a:t>необмеженому</a:t>
            </a:r>
            <a:r>
              <a:t> </a:t>
            </a:r>
            <a:r>
              <a:t>хмарному</a:t>
            </a:r>
            <a:r>
              <a:t> </a:t>
            </a:r>
            <a:r>
              <a:t>сховищі</a:t>
            </a:r>
            <a:r>
              <a:t> без </a:t>
            </a:r>
            <a:r>
              <a:t>втрати</a:t>
            </a:r>
            <a:r>
              <a:t> </a:t>
            </a:r>
            <a:r>
              <a:t>якості</a:t>
            </a:r>
            <a:r>
              <a:t> з метою </a:t>
            </a:r>
            <a:r>
              <a:t>створення</a:t>
            </a:r>
            <a:r>
              <a:t> </a:t>
            </a:r>
            <a:r>
              <a:t>бекапу</a:t>
            </a:r>
            <a:r>
              <a:t> та/</a:t>
            </a:r>
            <a:r>
              <a:t>або</a:t>
            </a:r>
            <a:r>
              <a:t> </a:t>
            </a:r>
            <a:r>
              <a:t>звільнення</a:t>
            </a:r>
            <a:r>
              <a:t> </a:t>
            </a:r>
            <a:r>
              <a:t>місця</a:t>
            </a:r>
            <a:r>
              <a:t> на </a:t>
            </a:r>
            <a:r>
              <a:t>телефоні</a:t>
            </a:r>
            <a:r>
              <a:t>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Очікуваними</a:t>
            </a:r>
            <a:r>
              <a:t> результатами є </a:t>
            </a:r>
            <a:r>
              <a:t>повнофункціональний</a:t>
            </a:r>
            <a:r>
              <a:t> </a:t>
            </a:r>
            <a:r>
              <a:t>застосунок</a:t>
            </a:r>
            <a:r>
              <a:t> </a:t>
            </a:r>
            <a:r>
              <a:t>зі</a:t>
            </a:r>
            <a:r>
              <a:t> </a:t>
            </a:r>
            <a:r>
              <a:t>зручним</a:t>
            </a:r>
            <a:r>
              <a:t> та </a:t>
            </a:r>
            <a:r>
              <a:t>сучасним</a:t>
            </a:r>
            <a:r>
              <a:t> </a:t>
            </a:r>
            <a:r>
              <a:t>інтерфейсом</a:t>
            </a:r>
            <a:r>
              <a:t>, </a:t>
            </a:r>
            <a:r>
              <a:t>підтримкою</a:t>
            </a:r>
            <a:r>
              <a:t> </a:t>
            </a:r>
            <a:r>
              <a:t>синхронізації</a:t>
            </a:r>
            <a:r>
              <a:t> з </a:t>
            </a:r>
            <a:r>
              <a:t>хмарним</a:t>
            </a:r>
            <a:r>
              <a:t> </a:t>
            </a:r>
            <a:r>
              <a:t>сховищем</a:t>
            </a:r>
            <a:r>
              <a:t> </a:t>
            </a:r>
            <a:r>
              <a:t>Telegram, </a:t>
            </a:r>
            <a:r>
              <a:t>актуальних</a:t>
            </a:r>
            <a:r>
              <a:t> </a:t>
            </a:r>
            <a:r>
              <a:t>методів</a:t>
            </a:r>
            <a:r>
              <a:t> перегляду </a:t>
            </a:r>
            <a:r>
              <a:t>галереї</a:t>
            </a:r>
            <a:r>
              <a:t>, фото та </a:t>
            </a:r>
            <a:r>
              <a:t>відео</a:t>
            </a:r>
            <a:r>
              <a:t>, а також з </a:t>
            </a:r>
            <a:r>
              <a:t>підтримкою</a:t>
            </a:r>
            <a:r>
              <a:t> </a:t>
            </a:r>
            <a:r>
              <a:t>масштабування</a:t>
            </a:r>
            <a:r>
              <a:t> для </a:t>
            </a:r>
            <a:r>
              <a:t>мільйонів</a:t>
            </a:r>
            <a:r>
              <a:t> </a:t>
            </a:r>
            <a:r>
              <a:t>користувачів</a:t>
            </a:r>
            <a:r>
              <a:t>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Для реалізації швидкої прокрутки тисяч елементів у галереї було випробувано кілька варіантів з елементами </a:t>
            </a:r>
            <a:r>
              <a:t>ListView</a:t>
            </a:r>
            <a:r>
              <a:t> </a:t>
            </a:r>
            <a:r>
              <a:t>і </a:t>
            </a:r>
            <a:r>
              <a:t>FlatList</a:t>
            </a:r>
            <a:r>
              <a:t>, </a:t>
            </a:r>
            <a:r>
              <a:t>але вони або використовували повільну пагінацію, або не давали гарної продуктивності. У фінальній версії було використано більш складне, але швидке рішення - модуль </a:t>
            </a:r>
            <a:r>
              <a:t>FlashList</a:t>
            </a:r>
            <a:r>
              <a:t>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При </a:t>
            </a:r>
            <a:r>
              <a:t>UML </a:t>
            </a:r>
            <a:r>
              <a:t>проектуванні</a:t>
            </a:r>
            <a:r>
              <a:t> </a:t>
            </a:r>
            <a:r>
              <a:t>була</a:t>
            </a:r>
            <a:r>
              <a:t> створена </a:t>
            </a:r>
            <a:r>
              <a:t>use-case </a:t>
            </a:r>
            <a:r>
              <a:t>діаграма</a:t>
            </a:r>
            <a:r>
              <a:t>. Вона дозволила </a:t>
            </a:r>
            <a:r>
              <a:t>наочно</a:t>
            </a:r>
            <a:r>
              <a:t> </a:t>
            </a:r>
            <a:r>
              <a:t>переглянути</a:t>
            </a:r>
            <a:r>
              <a:t> </a:t>
            </a:r>
            <a:r>
              <a:t>всі</a:t>
            </a:r>
            <a:r>
              <a:t> </a:t>
            </a:r>
            <a:r>
              <a:t>сценарії</a:t>
            </a:r>
            <a:r>
              <a:t> </a:t>
            </a:r>
            <a:r>
              <a:t>взаємодії</a:t>
            </a:r>
            <a:r>
              <a:t> </a:t>
            </a:r>
            <a:r>
              <a:t>користувачів</a:t>
            </a:r>
            <a:r>
              <a:t> </a:t>
            </a:r>
            <a:r>
              <a:t>із</a:t>
            </a:r>
            <a:r>
              <a:t> </a:t>
            </a:r>
            <a:r>
              <a:t>застосунком</a:t>
            </a:r>
            <a:r>
              <a:t>. </a:t>
            </a:r>
            <a:r>
              <a:t>Розроблена</a:t>
            </a:r>
            <a:r>
              <a:t> система </a:t>
            </a:r>
            <a:r>
              <a:t>має</a:t>
            </a:r>
            <a:r>
              <a:t> </a:t>
            </a:r>
            <a:r>
              <a:t>лише</a:t>
            </a:r>
            <a:r>
              <a:t> одного головного актора – </a:t>
            </a:r>
            <a:r>
              <a:t>користувача</a:t>
            </a:r>
            <a:r>
              <a:t>. Вона </a:t>
            </a:r>
            <a:r>
              <a:t>показує</a:t>
            </a:r>
            <a:r>
              <a:t>, </a:t>
            </a:r>
            <a:r>
              <a:t>що</a:t>
            </a:r>
            <a:r>
              <a:t> </a:t>
            </a:r>
            <a:r>
              <a:t>мобільний</a:t>
            </a:r>
            <a:r>
              <a:t> </a:t>
            </a:r>
            <a:r>
              <a:t>застосунок</a:t>
            </a:r>
            <a:r>
              <a:t> </a:t>
            </a:r>
            <a:r>
              <a:t>праціє</a:t>
            </a:r>
            <a:r>
              <a:t> по</a:t>
            </a:r>
            <a:r>
              <a:t>вністю</a:t>
            </a:r>
            <a:r>
              <a:t> </a:t>
            </a:r>
            <a:r>
              <a:t>автономно</a:t>
            </a:r>
            <a:r>
              <a:t>, без необхідності будь-якого </a:t>
            </a:r>
            <a:r>
              <a:t>адмністрування</a:t>
            </a:r>
            <a:r>
              <a:t>, що значно спрощує як розробку, так і подальшу підтримку.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У </a:t>
            </a:r>
            <a:r>
              <a:t>результаті</a:t>
            </a:r>
            <a:r>
              <a:t> </a:t>
            </a:r>
            <a:r>
              <a:t>роботи</a:t>
            </a:r>
            <a:r>
              <a:t> </a:t>
            </a:r>
            <a:r>
              <a:t>був</a:t>
            </a:r>
            <a:r>
              <a:t> </a:t>
            </a:r>
            <a:r>
              <a:t>розроблений</a:t>
            </a:r>
            <a:r>
              <a:t> і </a:t>
            </a:r>
            <a:r>
              <a:t>протестований</a:t>
            </a:r>
            <a:r>
              <a:t> </a:t>
            </a:r>
            <a:r>
              <a:t>мобільний</a:t>
            </a:r>
            <a:r>
              <a:t> </a:t>
            </a:r>
            <a:r>
              <a:t>застосунок</a:t>
            </a:r>
            <a:r>
              <a:t>, </a:t>
            </a:r>
            <a:r>
              <a:t>який</a:t>
            </a:r>
            <a:r>
              <a:t> </a:t>
            </a:r>
            <a:r>
              <a:t>відповідає</a:t>
            </a:r>
            <a:r>
              <a:t> </a:t>
            </a:r>
            <a:r>
              <a:t>поставленим</a:t>
            </a:r>
            <a:r>
              <a:t> задачам і </a:t>
            </a:r>
            <a:r>
              <a:t>готовий</a:t>
            </a:r>
            <a:r>
              <a:t> для деплою у </a:t>
            </a:r>
            <a:r>
              <a:t>Google Play.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Для </a:t>
            </a:r>
            <a:r>
              <a:t>подальшого</a:t>
            </a:r>
            <a:r>
              <a:t> </a:t>
            </a:r>
            <a:r>
              <a:t>розвитку</a:t>
            </a:r>
            <a:r>
              <a:t> </a:t>
            </a:r>
            <a:r>
              <a:t>застосунку</a:t>
            </a:r>
            <a:r>
              <a:t> </a:t>
            </a:r>
            <a:r>
              <a:t>планується</a:t>
            </a:r>
            <a:r>
              <a:t> </a:t>
            </a:r>
            <a:r>
              <a:t>додати</a:t>
            </a:r>
            <a:r>
              <a:t> </a:t>
            </a:r>
            <a:r>
              <a:t>можливість</a:t>
            </a:r>
            <a:r>
              <a:t> </a:t>
            </a:r>
            <a:r>
              <a:t>повної</a:t>
            </a:r>
            <a:r>
              <a:t> </a:t>
            </a:r>
            <a:r>
              <a:t>фонової</a:t>
            </a:r>
            <a:r>
              <a:t> </a:t>
            </a:r>
            <a:r>
              <a:t>синхронізації</a:t>
            </a:r>
            <a:r>
              <a:t>, а також </a:t>
            </a:r>
            <a:r>
              <a:t>реалізувати</a:t>
            </a:r>
            <a:r>
              <a:t> </a:t>
            </a:r>
            <a:r>
              <a:t>монетизацію</a:t>
            </a:r>
            <a:r>
              <a:t> на </a:t>
            </a:r>
            <a:r>
              <a:t>основі</a:t>
            </a:r>
            <a:r>
              <a:t> </a:t>
            </a:r>
            <a:r>
              <a:t>кількості</a:t>
            </a:r>
            <a:r>
              <a:t> </a:t>
            </a:r>
            <a:r>
              <a:t>синхронізацій</a:t>
            </a:r>
            <a:r>
              <a:t> для </a:t>
            </a:r>
            <a:r>
              <a:t>підтримки</a:t>
            </a:r>
            <a:r>
              <a:t> </a:t>
            </a:r>
            <a:r>
              <a:t>розробки</a:t>
            </a:r>
            <a:r>
              <a:t>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83cf5ea5bf47b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8bfed8d7ad4d9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626456fe7844a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7df4f5793c4f8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0fd589f32f44c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77a1a11a654e06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6cfc89e14749ec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a5dc273b2e4da6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b8b250a33e4074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f642aa3bd64171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a49b1238554067" /></Relationships>
</file>

<file path=ppt/slideLayouts/slideLayout1.xml><?xml version="1.0" encoding="utf-8"?>
<p:sldLayout xmlns:p="http://schemas.openxmlformats.org/presentationml/2006/main" matchingName="Title slide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 Shape;10;p2">
            <a:extLst xmlns:a="http://schemas.openxmlformats.org/drawingml/2006/main">
              <a:ext uri="{FF2B5EF4-FFF2-40B4-BE49-F238E27FC236}">
                <a16:creationId xmlns:a16="http://schemas.microsoft.com/office/drawing/2014/main" id="{0F5D6C87-FF97-4D8B-898F-EC9A1CDA0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4013" y="756700"/>
            <a:ext cx="1081625" cy="1124950"/>
          </a:xfrm>
          <a:custGeom xmlns:a="http://schemas.openxmlformats.org/drawingml/2006/main">
            <a:rect l="l" t="t" r="r" b="b"/>
            <a:pathLst>
              <a:path w="43265" h="44998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 cmpd="sng">
            <a:solidFill>
              <a:schemeClr val="lt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Google Shape;11;p2">
            <a:extLst xmlns:a="http://schemas.openxmlformats.org/drawingml/2006/main">
              <a:ext uri="{FF2B5EF4-FFF2-40B4-BE49-F238E27FC236}">
                <a16:creationId xmlns:a16="http://schemas.microsoft.com/office/drawing/2014/main" id="{F8B0CFF2-C4DD-4D66-A573-4DBF5BFF8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5318350" y="3266725"/>
            <a:ext cx="1081625" cy="1124950"/>
          </a:xfrm>
          <a:custGeom xmlns:a="http://schemas.openxmlformats.org/drawingml/2006/main">
            <a:rect l="l" t="t" r="r" b="b"/>
            <a:pathLst>
              <a:path w="43265" h="44998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 cmpd="sng">
            <a:solidFill>
              <a:schemeClr val="lt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" name="Google Shape;12;p2">
            <a:extLst xmlns:a="http://schemas.openxmlformats.org/drawingml/2006/main">
              <a:ext uri="{FF2B5EF4-FFF2-40B4-BE49-F238E27FC236}">
                <a16:creationId xmlns:a16="http://schemas.microsoft.com/office/drawing/2014/main" id="{0F2051FB-35A2-47A9-90E0-5C3AF8C4835E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044700" y="1444255"/>
            <a:ext cx="3054600" cy="153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13" name="Google Shape;13;p2">
            <a:extLst xmlns:a="http://schemas.openxmlformats.org/drawingml/2006/main">
              <a:ext uri="{FF2B5EF4-FFF2-40B4-BE49-F238E27FC236}">
                <a16:creationId xmlns:a16="http://schemas.microsoft.com/office/drawing/2014/main" id="{09DDD982-6C28-4F62-A4F2-BC4C29A3173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044700" y="3116580"/>
            <a:ext cx="3054600" cy="701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</a:defRPr>
            </a:lvl9pPr>
          </a:lstStyle>
          <a:p xmlns:a="http://schemas.openxmlformats.org/drawingml/2006/main">
            <a:r>
              <a:t>Образец подзаголовка</a:t>
            </a:r>
          </a:p>
        </p:txBody>
      </p:sp>
      <p:sp>
        <p:nvSpPr>
          <p:cNvPr id="14" name="Google Shape;14;p2">
            <a:extLst xmlns:a="http://schemas.openxmlformats.org/drawingml/2006/main">
              <a:ext uri="{FF2B5EF4-FFF2-40B4-BE49-F238E27FC236}">
                <a16:creationId xmlns:a16="http://schemas.microsoft.com/office/drawing/2014/main" id="{A3F31908-FFD3-4D68-8754-500564A17FE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Section header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Google Shape;16;p3">
            <a:extLst xmlns:a="http://schemas.openxmlformats.org/drawingml/2006/main">
              <a:ext uri="{FF2B5EF4-FFF2-40B4-BE49-F238E27FC236}">
                <a16:creationId xmlns:a16="http://schemas.microsoft.com/office/drawing/2014/main" id="{EC315F06-3917-4381-8991-38069C259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7595938" y="460225"/>
            <a:ext cx="1081625" cy="1124950"/>
          </a:xfrm>
          <a:custGeom xmlns:a="http://schemas.openxmlformats.org/drawingml/2006/main">
            <a:rect l="l" t="t" r="r" b="b"/>
            <a:pathLst>
              <a:path w="43265" h="44998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 cmpd="sng">
            <a:solidFill>
              <a:schemeClr val="lt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7" name="Google Shape;17;p3">
            <a:extLst xmlns:a="http://schemas.openxmlformats.org/drawingml/2006/main">
              <a:ext uri="{FF2B5EF4-FFF2-40B4-BE49-F238E27FC236}">
                <a16:creationId xmlns:a16="http://schemas.microsoft.com/office/drawing/2014/main" id="{7E2311E4-1E61-4D38-ABB4-B5AC136E9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 flipH="1">
            <a:off x="466425" y="3558325"/>
            <a:ext cx="1081625" cy="1124950"/>
          </a:xfrm>
          <a:custGeom xmlns:a="http://schemas.openxmlformats.org/drawingml/2006/main">
            <a:rect l="l" t="t" r="r" b="b"/>
            <a:pathLst>
              <a:path w="43265" h="44998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 cmpd="sng">
            <a:solidFill>
              <a:schemeClr val="lt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8" name="Google Shape;18;p3">
            <a:extLst xmlns:a="http://schemas.openxmlformats.org/drawingml/2006/main">
              <a:ext uri="{FF2B5EF4-FFF2-40B4-BE49-F238E27FC236}">
                <a16:creationId xmlns:a16="http://schemas.microsoft.com/office/drawing/2014/main" id="{0197DEFD-D1C9-4B5A-9E37-3E4672262AA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73700" y="1806450"/>
            <a:ext cx="7596600" cy="153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19" name="Google Shape;19;p3">
            <a:extLst xmlns:a="http://schemas.openxmlformats.org/drawingml/2006/main">
              <a:ext uri="{FF2B5EF4-FFF2-40B4-BE49-F238E27FC236}">
                <a16:creationId xmlns:a16="http://schemas.microsoft.com/office/drawing/2014/main" id="{71B1227B-AE6E-44CF-8F39-6B7CACDCFB0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Title and body">
  <p:cSld name="TITLE_AND_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Google Shape;21;p4">
            <a:extLst xmlns:a="http://schemas.openxmlformats.org/drawingml/2006/main">
              <a:ext uri="{FF2B5EF4-FFF2-40B4-BE49-F238E27FC236}">
                <a16:creationId xmlns:a16="http://schemas.microsoft.com/office/drawing/2014/main" id="{71156DA9-B1FA-469B-B156-32E415C76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45700"/>
            <a:ext cx="9144000" cy="978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2" name="Google Shape;22;p4">
            <a:extLst xmlns:a="http://schemas.openxmlformats.org/drawingml/2006/main">
              <a:ext uri="{FF2B5EF4-FFF2-40B4-BE49-F238E27FC236}">
                <a16:creationId xmlns:a16="http://schemas.microsoft.com/office/drawing/2014/main" id="{6E259F91-BFD4-42C0-AB57-B294E19B4BF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315925"/>
            <a:ext cx="8520600" cy="831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23" name="Google Shape;23;p4">
            <a:extLst xmlns:a="http://schemas.openxmlformats.org/drawingml/2006/main">
              <a:ext uri="{FF2B5EF4-FFF2-40B4-BE49-F238E27FC236}">
                <a16:creationId xmlns:a16="http://schemas.microsoft.com/office/drawing/2014/main" id="{CB3CE1B0-1064-4C19-A2F0-171ECB6BA01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225225"/>
            <a:ext cx="8520600" cy="335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>
            <a:pPr>
              <a:buNone/>
            </a:pPr>
            <a:r>
              <a:t>Образец текста</a:t>
            </a:r>
          </a:p>
        </p:txBody>
      </p:sp>
      <p:sp>
        <p:nvSpPr>
          <p:cNvPr id="24" name="Google Shape;24;p4">
            <a:extLst xmlns:a="http://schemas.openxmlformats.org/drawingml/2006/main">
              <a:ext uri="{FF2B5EF4-FFF2-40B4-BE49-F238E27FC236}">
                <a16:creationId xmlns:a16="http://schemas.microsoft.com/office/drawing/2014/main" id="{D6D92D75-BEB2-4C04-9F91-72C901A8713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Title and two columns">
  <p:cSld name="TITLE_AND_TWO_COLUMN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Google Shape;26;p5">
            <a:extLst xmlns:a="http://schemas.openxmlformats.org/drawingml/2006/main">
              <a:ext uri="{FF2B5EF4-FFF2-40B4-BE49-F238E27FC236}">
                <a16:creationId xmlns:a16="http://schemas.microsoft.com/office/drawing/2014/main" id="{F6829324-13B0-4D2A-B1E1-2096F3E66C7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315925"/>
            <a:ext cx="8520600" cy="831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27" name="Google Shape;27;p5">
            <a:extLst xmlns:a="http://schemas.openxmlformats.org/drawingml/2006/main">
              <a:ext uri="{FF2B5EF4-FFF2-40B4-BE49-F238E27FC236}">
                <a16:creationId xmlns:a16="http://schemas.microsoft.com/office/drawing/2014/main" id="{2F434ABC-0EB0-4016-BEBA-F96FC72F495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225225"/>
            <a:ext cx="3999900" cy="335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>
            <a:pPr>
              <a:buNone/>
            </a:pPr>
            <a:r>
              <a:t>Образец текста</a:t>
            </a:r>
          </a:p>
        </p:txBody>
      </p:sp>
      <p:sp>
        <p:nvSpPr>
          <p:cNvPr id="28" name="Google Shape;28;p5">
            <a:extLst xmlns:a="http://schemas.openxmlformats.org/drawingml/2006/main">
              <a:ext uri="{FF2B5EF4-FFF2-40B4-BE49-F238E27FC236}">
                <a16:creationId xmlns:a16="http://schemas.microsoft.com/office/drawing/2014/main" id="{1159A49F-08E6-430D-B247-1E7EDCECCC6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832400" y="1225225"/>
            <a:ext cx="3999900" cy="335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>
            <a:pPr>
              <a:buNone/>
            </a:pPr>
            <a:r>
              <a:t>Образец текста</a:t>
            </a:r>
          </a:p>
        </p:txBody>
      </p:sp>
      <p:sp>
        <p:nvSpPr>
          <p:cNvPr id="29" name="Google Shape;29;p5">
            <a:extLst xmlns:a="http://schemas.openxmlformats.org/drawingml/2006/main">
              <a:ext uri="{FF2B5EF4-FFF2-40B4-BE49-F238E27FC236}">
                <a16:creationId xmlns:a16="http://schemas.microsoft.com/office/drawing/2014/main" id="{4FB322A6-5567-44C9-A59C-AFC4DA37D03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Title only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Google Shape;31;p6">
            <a:extLst xmlns:a="http://schemas.openxmlformats.org/drawingml/2006/main">
              <a:ext uri="{FF2B5EF4-FFF2-40B4-BE49-F238E27FC236}">
                <a16:creationId xmlns:a16="http://schemas.microsoft.com/office/drawing/2014/main" id="{FFEF6F3D-8768-4956-9683-71E6B1650EE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315925"/>
            <a:ext cx="8520600" cy="831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32" name="Google Shape;32;p6">
            <a:extLst xmlns:a="http://schemas.openxmlformats.org/drawingml/2006/main">
              <a:ext uri="{FF2B5EF4-FFF2-40B4-BE49-F238E27FC236}">
                <a16:creationId xmlns:a16="http://schemas.microsoft.com/office/drawing/2014/main" id="{11E65899-1672-4B31-8DA2-0CB023CA860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One column text">
  <p:cSld name="ONE_COLUM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Google Shape;34;p7">
            <a:extLst xmlns:a="http://schemas.openxmlformats.org/drawingml/2006/main">
              <a:ext uri="{FF2B5EF4-FFF2-40B4-BE49-F238E27FC236}">
                <a16:creationId xmlns:a16="http://schemas.microsoft.com/office/drawing/2014/main" id="{DFEF818E-20CC-46B2-A5D4-D1702959138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555600"/>
            <a:ext cx="2808000" cy="755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35" name="Google Shape;35;p7">
            <a:extLst xmlns:a="http://schemas.openxmlformats.org/drawingml/2006/main">
              <a:ext uri="{FF2B5EF4-FFF2-40B4-BE49-F238E27FC236}">
                <a16:creationId xmlns:a16="http://schemas.microsoft.com/office/drawing/2014/main" id="{DF0C31CE-CE8D-41A3-ADA1-6245C50A57D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399400"/>
            <a:ext cx="2808000" cy="278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>
            <a:pPr>
              <a:buNone/>
            </a:pPr>
            <a:r>
              <a:t>Образец текста</a:t>
            </a:r>
          </a:p>
        </p:txBody>
      </p:sp>
      <p:sp>
        <p:nvSpPr>
          <p:cNvPr id="36" name="Google Shape;36;p7">
            <a:extLst xmlns:a="http://schemas.openxmlformats.org/drawingml/2006/main">
              <a:ext uri="{FF2B5EF4-FFF2-40B4-BE49-F238E27FC236}">
                <a16:creationId xmlns:a16="http://schemas.microsoft.com/office/drawing/2014/main" id="{1BE2DDCC-5F10-4AAE-A52C-DB1906E01C0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Main point">
  <p:cSld name="MAIN_POI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Google Shape;38;p8">
            <a:extLst xmlns:a="http://schemas.openxmlformats.org/drawingml/2006/main">
              <a:ext uri="{FF2B5EF4-FFF2-40B4-BE49-F238E27FC236}">
                <a16:creationId xmlns:a16="http://schemas.microsoft.com/office/drawing/2014/main" id="{A555BFCF-EE06-4A23-8E75-E4ADD3DB7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45700"/>
            <a:ext cx="9144000" cy="978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9" name="Google Shape;39;p8">
            <a:extLst xmlns:a="http://schemas.openxmlformats.org/drawingml/2006/main">
              <a:ext uri="{FF2B5EF4-FFF2-40B4-BE49-F238E27FC236}">
                <a16:creationId xmlns:a16="http://schemas.microsoft.com/office/drawing/2014/main" id="{E78530C6-AE6F-4E41-AD85-3663D331301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90250" y="450150"/>
            <a:ext cx="5878800" cy="409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40" name="Google Shape;40;p8">
            <a:extLst xmlns:a="http://schemas.openxmlformats.org/drawingml/2006/main">
              <a:ext uri="{FF2B5EF4-FFF2-40B4-BE49-F238E27FC236}">
                <a16:creationId xmlns:a16="http://schemas.microsoft.com/office/drawing/2014/main" id="{F772AE66-D6FD-4C2B-95B7-B1EA4B58887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Section title and description">
  <p:cSld name="SECTION_TITLE_AND_DESCRI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Google Shape;42;p9">
            <a:extLst xmlns:a="http://schemas.openxmlformats.org/drawingml/2006/main">
              <a:ext uri="{FF2B5EF4-FFF2-40B4-BE49-F238E27FC236}">
                <a16:creationId xmlns:a16="http://schemas.microsoft.com/office/drawing/2014/main" id="{7C252D86-05C4-4F4E-91D5-64DDA71F4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-25"/>
            <a:ext cx="4572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cxnSp>
        <p:nvCxnSpPr>
          <p:cNvPr id="51" name="Google Shape;43;p9"/>
          <p:cNvCxnSpPr/>
          <p:nvPr/>
        </p:nvCxnSpPr>
        <p:spPr>
          <a:xfrm xmlns:a="http://schemas.openxmlformats.org/drawingml/2006/main">
            <a:off x="5029675" y="4495500"/>
            <a:ext cx="468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 cap="flat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4" name="Google Shape;44;p9">
            <a:extLst xmlns:a="http://schemas.openxmlformats.org/drawingml/2006/main">
              <a:ext uri="{FF2B5EF4-FFF2-40B4-BE49-F238E27FC236}">
                <a16:creationId xmlns:a16="http://schemas.microsoft.com/office/drawing/2014/main" id="{3B5DB2CB-7983-4C2D-9B0A-83AA689C5BD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65500" y="929275"/>
            <a:ext cx="4045200" cy="1786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45" name="Google Shape;45;p9">
            <a:extLst xmlns:a="http://schemas.openxmlformats.org/drawingml/2006/main">
              <a:ext uri="{FF2B5EF4-FFF2-40B4-BE49-F238E27FC236}">
                <a16:creationId xmlns:a16="http://schemas.microsoft.com/office/drawing/2014/main" id="{FE48D109-A7C8-4A23-B901-409C76276EB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65500" y="2769001"/>
            <a:ext cx="4045200" cy="1574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</a:defRPr>
            </a:lvl9pPr>
          </a:lstStyle>
          <a:p xmlns:a="http://schemas.openxmlformats.org/drawingml/2006/main">
            <a:r>
              <a:t>Образец подзаголовка</a:t>
            </a:r>
          </a:p>
        </p:txBody>
      </p:sp>
      <p:sp>
        <p:nvSpPr>
          <p:cNvPr id="46" name="Google Shape;46;p9">
            <a:extLst xmlns:a="http://schemas.openxmlformats.org/drawingml/2006/main">
              <a:ext uri="{FF2B5EF4-FFF2-40B4-BE49-F238E27FC236}">
                <a16:creationId xmlns:a16="http://schemas.microsoft.com/office/drawing/2014/main" id="{E23646C6-2B34-4181-AEDC-CF0D8665CCC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939500" y="724200"/>
            <a:ext cx="3837000" cy="369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45720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 xmlns:a="http://schemas.openxmlformats.org/drawingml/2006/main">
            <a:pPr>
              <a:buNone/>
            </a:pPr>
            <a:r>
              <a:t>Образец текста</a:t>
            </a:r>
          </a:p>
        </p:txBody>
      </p:sp>
      <p:sp>
        <p:nvSpPr>
          <p:cNvPr id="47" name="Google Shape;47;p9">
            <a:extLst xmlns:a="http://schemas.openxmlformats.org/drawingml/2006/main">
              <a:ext uri="{FF2B5EF4-FFF2-40B4-BE49-F238E27FC236}">
                <a16:creationId xmlns:a16="http://schemas.microsoft.com/office/drawing/2014/main" id="{84A0D7E2-4C26-4B92-AB66-562E60B4CCB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>
                <a:solidFill>
                  <a:schemeClr val="lt1"/>
                </a:solidFill>
              </a:defRPr>
            </a:lvl1pPr>
            <a:lvl2pPr>
              <a:buNone/>
              <a:defRPr>
                <a:solidFill>
                  <a:schemeClr val="lt1"/>
                </a:solidFill>
              </a:defRPr>
            </a:lvl2pPr>
            <a:lvl3pPr>
              <a:buNone/>
              <a:defRPr>
                <a:solidFill>
                  <a:schemeClr val="lt1"/>
                </a:solidFill>
              </a:defRPr>
            </a:lvl3pPr>
            <a:lvl4pPr>
              <a:buNone/>
              <a:defRPr>
                <a:solidFill>
                  <a:schemeClr val="lt1"/>
                </a:solidFill>
              </a:defRPr>
            </a:lvl4pPr>
            <a:lvl5pPr>
              <a:buNone/>
              <a:defRPr>
                <a:solidFill>
                  <a:schemeClr val="lt1"/>
                </a:solidFill>
              </a:defRPr>
            </a:lvl5pPr>
            <a:lvl6pPr>
              <a:buNone/>
              <a:defRPr>
                <a:solidFill>
                  <a:schemeClr val="lt1"/>
                </a:solidFill>
              </a:defRPr>
            </a:lvl6pPr>
            <a:lvl7pPr>
              <a:buNone/>
              <a:defRPr>
                <a:solidFill>
                  <a:schemeClr val="lt1"/>
                </a:solidFill>
              </a:defRPr>
            </a:lvl7pPr>
            <a:lvl8pPr>
              <a:buNone/>
              <a:defRPr>
                <a:solidFill>
                  <a:schemeClr val="lt1"/>
                </a:solidFill>
              </a:defRPr>
            </a:lvl8pPr>
            <a:lvl9pPr>
              <a:buNone/>
              <a:defRPr>
                <a:solidFill>
                  <a:schemeClr val="lt1"/>
                </a:solidFill>
              </a:defRPr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Caption">
  <p:cSld name="CAPTION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Google Shape;49;p10">
            <a:extLst xmlns:a="http://schemas.openxmlformats.org/drawingml/2006/main">
              <a:ext uri="{FF2B5EF4-FFF2-40B4-BE49-F238E27FC236}">
                <a16:creationId xmlns:a16="http://schemas.microsoft.com/office/drawing/2014/main" id="{F8F51B76-7D51-4696-93D6-7A753E61E0A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9500" y="4218925"/>
            <a:ext cx="5998800" cy="598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45720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</a:defRPr>
            </a:lvl1pPr>
          </a:lstStyle>
          <a:p xmlns:a="http://schemas.openxmlformats.org/drawingml/2006/main">
            <a:pPr>
              <a:buNone/>
            </a:pPr>
            <a:r>
              <a:t>Образец текста</a:t>
            </a:r>
          </a:p>
        </p:txBody>
      </p:sp>
      <p:sp>
        <p:nvSpPr>
          <p:cNvPr id="50" name="Google Shape;50;p10">
            <a:extLst xmlns:a="http://schemas.openxmlformats.org/drawingml/2006/main">
              <a:ext uri="{FF2B5EF4-FFF2-40B4-BE49-F238E27FC236}">
                <a16:creationId xmlns:a16="http://schemas.microsoft.com/office/drawing/2014/main" id="{B2C46092-47DD-4B6D-84B3-07DF83E0025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Big number">
  <p:cSld name="BIG_NUMB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Google Shape;52;p11">
            <a:extLst xmlns:a="http://schemas.openxmlformats.org/drawingml/2006/main">
              <a:ext uri="{FF2B5EF4-FFF2-40B4-BE49-F238E27FC236}">
                <a16:creationId xmlns:a16="http://schemas.microsoft.com/office/drawing/2014/main" id="{229D1677-53F5-41F2-AFB4-D83DE70B0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45700"/>
            <a:ext cx="9144000" cy="978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3" name="Google Shape;53;p11">
            <a:extLst xmlns:a="http://schemas.openxmlformats.org/drawingml/2006/main">
              <a:ext uri="{FF2B5EF4-FFF2-40B4-BE49-F238E27FC236}">
                <a16:creationId xmlns:a16="http://schemas.microsoft.com/office/drawing/2014/main" id="{70338BD1-0FD2-48C9-BB09-F8176B15C54C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11700" y="957125"/>
            <a:ext cx="8520600" cy="2128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54" name="Google Shape;54;p11">
            <a:extLst xmlns:a="http://schemas.openxmlformats.org/drawingml/2006/main">
              <a:ext uri="{FF2B5EF4-FFF2-40B4-BE49-F238E27FC236}">
                <a16:creationId xmlns:a16="http://schemas.microsoft.com/office/drawing/2014/main" id="{8ACFE25F-FA6E-4BB5-86C3-79D5530AF3E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3162000"/>
            <a:ext cx="8520600" cy="1071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>
            <a:pPr>
              <a:buNone/>
            </a:pPr>
            <a:r>
              <a:t>Образец текста</a:t>
            </a:r>
          </a:p>
        </p:txBody>
      </p:sp>
      <p:sp>
        <p:nvSpPr>
          <p:cNvPr id="55" name="Google Shape;55;p11">
            <a:extLst xmlns:a="http://schemas.openxmlformats.org/drawingml/2006/main">
              <a:ext uri="{FF2B5EF4-FFF2-40B4-BE49-F238E27FC236}">
                <a16:creationId xmlns:a16="http://schemas.microsoft.com/office/drawing/2014/main" id="{EB7C33EF-0F9D-4423-BEFC-CD9D96B11C6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1.xml><?xml version="1.0" encoding="utf-8"?>
<p:sldLayout xmlns:p="http://schemas.openxmlformats.org/presentationml/2006/main" matchingName="Blank" type="blank">
  <p:cSld name="Пустой слайд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7" name="Google Shape;57;p12">
            <a:extLst xmlns:a="http://schemas.openxmlformats.org/drawingml/2006/main">
              <a:ext uri="{FF2B5EF4-FFF2-40B4-BE49-F238E27FC236}">
                <a16:creationId xmlns:a16="http://schemas.microsoft.com/office/drawing/2014/main" id="{714A4E2D-FA80-4119-A2E9-0D3A530FDD2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6b12dff2d844104" /><Relationship Type="http://schemas.openxmlformats.org/officeDocument/2006/relationships/slideLayout" Target="/ppt/slideLayouts/slideLayout1.xml" Id="Rff08d69640044a50" /><Relationship Type="http://schemas.openxmlformats.org/officeDocument/2006/relationships/slideLayout" Target="/ppt/slideLayouts/slideLayout2.xml" Id="Re96a96cc0ef24f8c" /><Relationship Type="http://schemas.openxmlformats.org/officeDocument/2006/relationships/slideLayout" Target="/ppt/slideLayouts/slideLayout3.xml" Id="Re21b507fbafb4632" /><Relationship Type="http://schemas.openxmlformats.org/officeDocument/2006/relationships/slideLayout" Target="/ppt/slideLayouts/slideLayout4.xml" Id="Re683bfcff3ac4d47" /><Relationship Type="http://schemas.openxmlformats.org/officeDocument/2006/relationships/slideLayout" Target="/ppt/slideLayouts/slideLayout5.xml" Id="R8199be58717346a0" /><Relationship Type="http://schemas.openxmlformats.org/officeDocument/2006/relationships/slideLayout" Target="/ppt/slideLayouts/slideLayout6.xml" Id="R1545b192982c4a92" /><Relationship Type="http://schemas.openxmlformats.org/officeDocument/2006/relationships/slideLayout" Target="/ppt/slideLayouts/slideLayout7.xml" Id="Rd569f14eea3d4191" /><Relationship Type="http://schemas.openxmlformats.org/officeDocument/2006/relationships/slideLayout" Target="/ppt/slideLayouts/slideLayout8.xml" Id="Ra3dab0f4eb9e432d" /><Relationship Type="http://schemas.openxmlformats.org/officeDocument/2006/relationships/slideLayout" Target="/ppt/slideLayouts/slideLayout9.xml" Id="R762aec6a52cf4c2e" /><Relationship Type="http://schemas.openxmlformats.org/officeDocument/2006/relationships/slideLayout" Target="/ppt/slideLayouts/slideLayout10.xml" Id="Re69c3e91cc1a4fc2" /><Relationship Type="http://schemas.openxmlformats.org/officeDocument/2006/relationships/slideLayout" Target="/ppt/slideLayouts/slideLayout11.xml" Id="Rf3332ad3f1ec4dce" /></Relationships>
</file>

<file path=ppt/slideMasters/slideMaster1.xml><?xml version="1.0" encoding="utf-8"?>
<p:sldMaster xmlns:p="http://schemas.openxmlformats.org/presentationml/2006/main">
  <p:cSld name="luxe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 Shape;6;p1">
            <a:extLst xmlns:a="http://schemas.openxmlformats.org/drawingml/2006/main">
              <a:ext uri="{FF2B5EF4-FFF2-40B4-BE49-F238E27FC236}">
                <a16:creationId xmlns:a16="http://schemas.microsoft.com/office/drawing/2014/main" id="{01B3B63E-032D-47FE-ACD7-D69C885277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315925"/>
            <a:ext cx="8520600" cy="83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</a:defRPr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</a:defRPr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</a:defRPr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</a:defRPr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</a:defRPr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</a:defRPr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</a:defRPr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</a:defRPr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</a:defRPr>
            </a:lvl9pPr>
          </a:lstStyle>
          <a:p xmlns:a="http://schemas.openxmlformats.org/drawingml/2006/main"/>
        </p:txBody>
      </p:sp>
      <p:sp>
        <p:nvSpPr>
          <p:cNvPr id="7" name="Google Shape;7;p1">
            <a:extLst xmlns:a="http://schemas.openxmlformats.org/drawingml/2006/main">
              <a:ext uri="{FF2B5EF4-FFF2-40B4-BE49-F238E27FC236}">
                <a16:creationId xmlns:a16="http://schemas.microsoft.com/office/drawing/2014/main" id="{177A07B8-48B7-4588-AACD-8CC054C8FF9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225225"/>
            <a:ext cx="8520600" cy="33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1pPr>
            <a:lvl2pPr marL="914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2pPr>
            <a:lvl3pPr marL="1371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3pPr>
            <a:lvl4pPr marL="1828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4pPr>
            <a:lvl5pPr marL="22860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5pPr>
            <a:lvl6pPr marL="27432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6pPr>
            <a:lvl7pPr marL="3200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7pPr>
            <a:lvl8pPr marL="3657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8pPr>
            <a:lvl9pPr marL="4114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9pPr>
          </a:lstStyle>
          <a:p xmlns:a="http://schemas.openxmlformats.org/drawingml/2006/main"/>
        </p:txBody>
      </p:sp>
      <p:sp>
        <p:nvSpPr>
          <p:cNvPr id="8" name="Google Shape;8;p1">
            <a:extLst xmlns:a="http://schemas.openxmlformats.org/drawingml/2006/main">
              <a:ext uri="{FF2B5EF4-FFF2-40B4-BE49-F238E27FC236}">
                <a16:creationId xmlns:a16="http://schemas.microsoft.com/office/drawing/2014/main" id="{B0F608FA-7771-425B-9137-70013A81625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</a:defRPr>
            </a:lvl1pPr>
            <a:lvl2pPr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</a:defRPr>
            </a:lvl2pPr>
            <a:lvl3pPr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</a:defRPr>
            </a:lvl3pPr>
            <a:lvl4pPr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</a:defRPr>
            </a:lvl4pPr>
            <a:lvl5pPr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</a:defRPr>
            </a:lvl5pPr>
            <a:lvl6pPr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</a:defRPr>
            </a:lvl6pPr>
            <a:lvl7pPr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</a:defRPr>
            </a:lvl7pPr>
            <a:lvl8pPr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</a:defRPr>
            </a:lvl8pPr>
            <a:lvl9pPr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</a:defRPr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f08d69640044a50"/>
    <p:sldLayoutId xmlns:r="http://schemas.openxmlformats.org/officeDocument/2006/relationships" id="2147483650" r:id="Re96a96cc0ef24f8c"/>
    <p:sldLayoutId xmlns:r="http://schemas.openxmlformats.org/officeDocument/2006/relationships" id="2147483651" r:id="Re21b507fbafb4632"/>
    <p:sldLayoutId xmlns:r="http://schemas.openxmlformats.org/officeDocument/2006/relationships" id="2147483652" r:id="Re683bfcff3ac4d47"/>
    <p:sldLayoutId xmlns:r="http://schemas.openxmlformats.org/officeDocument/2006/relationships" id="2147483653" r:id="R8199be58717346a0"/>
    <p:sldLayoutId xmlns:r="http://schemas.openxmlformats.org/officeDocument/2006/relationships" id="2147483654" r:id="R1545b192982c4a92"/>
    <p:sldLayoutId xmlns:r="http://schemas.openxmlformats.org/officeDocument/2006/relationships" id="2147483655" r:id="Rd569f14eea3d4191"/>
    <p:sldLayoutId xmlns:r="http://schemas.openxmlformats.org/officeDocument/2006/relationships" id="2147483656" r:id="Ra3dab0f4eb9e432d"/>
    <p:sldLayoutId xmlns:r="http://schemas.openxmlformats.org/officeDocument/2006/relationships" id="2147483657" r:id="R762aec6a52cf4c2e"/>
    <p:sldLayoutId xmlns:r="http://schemas.openxmlformats.org/officeDocument/2006/relationships" id="2147483658" r:id="Re69c3e91cc1a4fc2"/>
    <p:sldLayoutId xmlns:r="http://schemas.openxmlformats.org/officeDocument/2006/relationships" id="2147483659" r:id="Rf3332ad3f1ec4dce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Шаблон презентації кваліфікаційної роботи магістрів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57BB8A"/>
      </a:accent3>
      <a:accent4>
        <a:srgbClr val="78909C"/>
      </a:accent4>
      <a:accent5>
        <a:srgbClr val="607D8B"/>
      </a:accent5>
      <a:accent6>
        <a:srgbClr val="DCE755"/>
      </a:accent6>
      <a:hlink>
        <a:srgbClr val="607D8B"/>
      </a:hlink>
      <a:folHlink>
        <a:srgbClr val="607D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ux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d451cb16df4484" /><Relationship Type="http://schemas.openxmlformats.org/officeDocument/2006/relationships/image" Target="/ppt/media/image.png" Id="R4ad4b8e8f6b54621" /><Relationship Type="http://schemas.openxmlformats.org/officeDocument/2006/relationships/image" Target="/ppt/media/image2.png" Id="Raa2ea8085c0f4107" /><Relationship Type="http://schemas.openxmlformats.org/officeDocument/2006/relationships/image" Target="/ppt/media/image3.png" Id="R03582a1709f34e54" /><Relationship Type="http://schemas.openxmlformats.org/officeDocument/2006/relationships/notesSlide" Target="/ppt/notesSlides/notesSlide1.xml" Id="Rb3d9c1d0d8ee466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e31d32d6ded94425" /><Relationship Type="http://schemas.openxmlformats.org/officeDocument/2006/relationships/image" Target="/ppt/media/image.png" Id="R56aaa889a3a84d07" /><Relationship Type="http://schemas.openxmlformats.org/officeDocument/2006/relationships/notesSlide" Target="/ppt/notesSlides/notesSlide2.xml" Id="Rbfe7301ae54346f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1a9a67be6fe41e9" /><Relationship Type="http://schemas.openxmlformats.org/officeDocument/2006/relationships/image" Target="/ppt/media/image.png" Id="Rb02e9779ae464fd3" /><Relationship Type="http://schemas.openxmlformats.org/officeDocument/2006/relationships/notesSlide" Target="/ppt/notesSlides/notesSlide3.xml" Id="R5441ce2a12a9424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ab76f2695a14eb0" /><Relationship Type="http://schemas.openxmlformats.org/officeDocument/2006/relationships/image" Target="/ppt/media/image.png" Id="R0ec64a7045254f34" /><Relationship Type="http://schemas.openxmlformats.org/officeDocument/2006/relationships/image" Target="/ppt/media/image4.png" Id="R37fcbf3b0572438a" /><Relationship Type="http://schemas.openxmlformats.org/officeDocument/2006/relationships/notesSlide" Target="/ppt/notesSlides/notesSlide4.xml" Id="Rbb6450cb3551474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760b4f8851849c4" /><Relationship Type="http://schemas.openxmlformats.org/officeDocument/2006/relationships/image" Target="/ppt/media/image.png" Id="R1071021c47a14963" /><Relationship Type="http://schemas.openxmlformats.org/officeDocument/2006/relationships/image" Target="/ppt/media/image5.png" Id="Rc15f78368f3641f0" /><Relationship Type="http://schemas.openxmlformats.org/officeDocument/2006/relationships/notesSlide" Target="/ppt/notesSlides/notesSlide5.xml" Id="R39430d0616f247b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8390315c43b4f1d" /><Relationship Type="http://schemas.openxmlformats.org/officeDocument/2006/relationships/image" Target="/ppt/media/image.png" Id="R18d1a47974e240bf" /><Relationship Type="http://schemas.openxmlformats.org/officeDocument/2006/relationships/image" Target="/ppt/media/image6.png" Id="Rb2778d9967ac42b2" /><Relationship Type="http://schemas.openxmlformats.org/officeDocument/2006/relationships/notesSlide" Target="/ppt/notesSlides/notesSlide6.xml" Id="Rbec4b981a88447f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be928e475524f4d" /><Relationship Type="http://schemas.openxmlformats.org/officeDocument/2006/relationships/image" Target="/ppt/media/image.png" Id="Rd5e956d739314cf1" /><Relationship Type="http://schemas.openxmlformats.org/officeDocument/2006/relationships/notesSlide" Target="/ppt/notesSlides/notesSlide7.xml" Id="Rf6ca8717db3a49d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a1ab6a923e084620" /><Relationship Type="http://schemas.openxmlformats.org/officeDocument/2006/relationships/image" Target="/ppt/media/image.png" Id="R6f42466ce98345ab" /><Relationship Type="http://schemas.openxmlformats.org/officeDocument/2006/relationships/image" Target="/ppt/media/image7.png" Id="Rb09bcd93c9bd464d" /><Relationship Type="http://schemas.openxmlformats.org/officeDocument/2006/relationships/image" Target="/ppt/media/image8.png" Id="Reb867736ba7d401e" /><Relationship Type="http://schemas.openxmlformats.org/officeDocument/2006/relationships/notesSlide" Target="/ppt/notesSlides/notesSlide8.xml" Id="R54c89fa765024aa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06b8e1ea24942e1" /><Relationship Type="http://schemas.openxmlformats.org/officeDocument/2006/relationships/image" Target="/ppt/media/image.png" Id="Ree0e5d9a9c4c41c6" /><Relationship Type="http://schemas.openxmlformats.org/officeDocument/2006/relationships/image" Target="/ppt/media/image9.png" Id="Ra219c92974444386" /><Relationship Type="http://schemas.openxmlformats.org/officeDocument/2006/relationships/notesSlide" Target="/ppt/notesSlides/notesSlide9.xml" Id="Rc84a084c1f0d48a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b6fc78231374860" /><Relationship Type="http://schemas.openxmlformats.org/officeDocument/2006/relationships/image" Target="/ppt/media/image.png" Id="Ref3fc8f767c34a56" /><Relationship Type="http://schemas.openxmlformats.org/officeDocument/2006/relationships/notesSlide" Target="/ppt/notesSlides/notesSlide10.xml" Id="R0dcfeca14bfc491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2" name="Google Shape;62;p13">
            <a:extLst xmlns:a="http://schemas.openxmlformats.org/drawingml/2006/main">
              <a:ext uri="{FF2B5EF4-FFF2-40B4-BE49-F238E27FC236}">
                <a16:creationId xmlns:a16="http://schemas.microsoft.com/office/drawing/2014/main" id="{D5DFC61B-26A6-4692-9A7F-B1390AE23F34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2805450" y="821300"/>
            <a:ext cx="3281100" cy="192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400"/>
              <a:t>Веборієнтована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400"/>
              <a:t>система обліку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400"/>
              <a:t>витрат часу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400"/>
              <a:t>працівників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400"/>
              <a:t>логістичного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400"/>
              <a:t>підприємства</a:t>
            </a:r>
          </a:p>
        </p:txBody>
      </p:sp>
      <p:sp>
        <p:nvSpPr>
          <p:cNvPr id="63" name="Google Shape;63;p13">
            <a:extLst xmlns:a="http://schemas.openxmlformats.org/drawingml/2006/main">
              <a:ext uri="{FF2B5EF4-FFF2-40B4-BE49-F238E27FC236}">
                <a16:creationId xmlns:a16="http://schemas.microsoft.com/office/drawing/2014/main" id="{F8397B0C-A552-49ED-9EFF-D4581CE19D0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735999" y="3236000"/>
            <a:ext cx="3957683" cy="144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/>
              <a:t>Дудка Дмитро Андрійович, ПЗПІз-22-1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/>
              <a:t>Керівник: доц. кафедри ПІ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/>
              <a:t>Андрій Бабій</a:t>
            </a:r>
          </a:p>
        </p:txBody>
      </p:sp>
      <p:pic>
        <p:nvPicPr>
          <p:cNvPr id="69" name="Google Shape;64;p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d4b8e8f6b54621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68925" y="4359500"/>
            <a:ext cx="862250" cy="5817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70" name="Google Shape;65;p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2ea8085c0f4107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4725" y="170825"/>
            <a:ext cx="2133975" cy="3897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71" name="Google Shape;66;p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582a1709f34e54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68504" y="170825"/>
            <a:ext cx="1924921" cy="4391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" name="Google Shape;63;p13">
            <a:extLst xmlns:a="http://schemas.openxmlformats.org/drawingml/2006/main">
              <a:ext uri="{FF2B5EF4-FFF2-40B4-BE49-F238E27FC236}">
                <a16:creationId xmlns:a16="http://schemas.microsoft.com/office/drawing/2014/main" id="{50FD7A76-E564-254A-9AC4-FC2FF0C4B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2225" y="4679500"/>
            <a:ext cx="3419550" cy="10729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 fontScale="100000"/>
          </a:bodyPr>
          <a:lstStyle xmlns:a="http://schemas.openxmlformats.org/drawingml/2006/main">
            <a:lvl1pPr marL="457200" marR="0" indent="-3429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Economica"/>
              <a:buNone/>
              <a:defRPr sz="2100" b="0" i="0" u="none" cap="none">
                <a:solidFill>
                  <a:schemeClr val="dk1"/>
                </a:solidFill>
                <a:latin typeface="Economica"/>
                <a:ea typeface="Economica"/>
                <a:cs typeface="Economica"/>
              </a:defRPr>
            </a:lvl1pPr>
            <a:lvl2pPr marL="914400" marR="0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Economica"/>
              <a:buNone/>
              <a:defRPr sz="2100" b="0" i="0" u="none" cap="none">
                <a:solidFill>
                  <a:schemeClr val="dk1"/>
                </a:solidFill>
                <a:latin typeface="Economica"/>
                <a:ea typeface="Economica"/>
                <a:cs typeface="Economica"/>
              </a:defRPr>
            </a:lvl2pPr>
            <a:lvl3pPr marL="1371600" marR="0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Economica"/>
              <a:buNone/>
              <a:defRPr sz="2100" b="0" i="0" u="none" cap="none">
                <a:solidFill>
                  <a:schemeClr val="dk1"/>
                </a:solidFill>
                <a:latin typeface="Economica"/>
                <a:ea typeface="Economica"/>
                <a:cs typeface="Economica"/>
              </a:defRPr>
            </a:lvl3pPr>
            <a:lvl4pPr marL="1828800" marR="0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Economica"/>
              <a:buNone/>
              <a:defRPr sz="2100" b="0" i="0" u="none" cap="none">
                <a:solidFill>
                  <a:schemeClr val="dk1"/>
                </a:solidFill>
                <a:latin typeface="Economica"/>
                <a:ea typeface="Economica"/>
                <a:cs typeface="Economica"/>
              </a:defRPr>
            </a:lvl4pPr>
            <a:lvl5pPr marL="2286000" marR="0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Economica"/>
              <a:buNone/>
              <a:defRPr sz="2100" b="0" i="0" u="none" cap="none">
                <a:solidFill>
                  <a:schemeClr val="dk1"/>
                </a:solidFill>
                <a:latin typeface="Economica"/>
                <a:ea typeface="Economica"/>
                <a:cs typeface="Economica"/>
              </a:defRPr>
            </a:lvl5pPr>
            <a:lvl6pPr marL="2743200" marR="0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Economica"/>
              <a:buNone/>
              <a:defRPr sz="2100" b="0" i="0" u="none" cap="none">
                <a:solidFill>
                  <a:schemeClr val="dk1"/>
                </a:solidFill>
                <a:latin typeface="Economica"/>
                <a:ea typeface="Economica"/>
                <a:cs typeface="Economica"/>
              </a:defRPr>
            </a:lvl6pPr>
            <a:lvl7pPr marL="3200400" marR="0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Economica"/>
              <a:buNone/>
              <a:defRPr sz="2100" b="0" i="0" u="none" cap="none">
                <a:solidFill>
                  <a:schemeClr val="dk1"/>
                </a:solidFill>
                <a:latin typeface="Economica"/>
                <a:ea typeface="Economica"/>
                <a:cs typeface="Economica"/>
              </a:defRPr>
            </a:lvl7pPr>
            <a:lvl8pPr marL="3657600" marR="0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Economica"/>
              <a:buNone/>
              <a:defRPr sz="2100" b="0" i="0" u="none" cap="none">
                <a:solidFill>
                  <a:schemeClr val="dk1"/>
                </a:solidFill>
                <a:latin typeface="Economica"/>
                <a:ea typeface="Economica"/>
                <a:cs typeface="Economica"/>
              </a:defRPr>
            </a:lvl8pPr>
            <a:lvl9pPr marL="4114800" marR="0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Economica"/>
              <a:buNone/>
              <a:defRPr sz="2100" b="0" i="0" u="none" cap="none">
                <a:solidFill>
                  <a:schemeClr val="dk1"/>
                </a:solidFill>
                <a:latin typeface="Economica"/>
                <a:ea typeface="Economica"/>
                <a:cs typeface="Economica"/>
              </a:defRPr>
            </a:lvl9pPr>
          </a:lstStyle>
          <a:p xmlns:a="http://schemas.openxmlformats.org/drawingml/2006/main">
            <a:pPr marL="0" indent="0">
              <a:buNone/>
            </a:pPr>
            <a:r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126309793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1" name="Google Shape;71;p14">
            <a:extLst xmlns:a="http://schemas.openxmlformats.org/drawingml/2006/main">
              <a:ext uri="{FF2B5EF4-FFF2-40B4-BE49-F238E27FC236}">
                <a16:creationId xmlns:a16="http://schemas.microsoft.com/office/drawing/2014/main" id="{62627E9D-7E00-4675-A4F5-9F30C231532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0"/>
            <a:ext cx="8520600" cy="831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200"/>
              <a:t>Мета роботи</a:t>
            </a:r>
          </a:p>
        </p:txBody>
      </p:sp>
      <p:sp>
        <p:nvSpPr>
          <p:cNvPr id="72" name="Google Shape;72;p14">
            <a:extLst xmlns:a="http://schemas.openxmlformats.org/drawingml/2006/main">
              <a:ext uri="{FF2B5EF4-FFF2-40B4-BE49-F238E27FC236}">
                <a16:creationId xmlns:a16="http://schemas.microsoft.com/office/drawing/2014/main" id="{4E65F86B-570B-4CB5-A9A7-343703B8E9C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950400"/>
            <a:ext cx="8520600" cy="258169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>
                <a:solidFill>
                  <a:schemeClr val="tx1"/>
                </a:solidFill>
                <a:latin typeface="Open Sans"/>
                <a:ea typeface="Open Sans"/>
                <a:cs typeface="Open Sans"/>
              </a:rPr>
              <a:t>Мета роботи</a:t>
            </a:r>
          </a:p>
          <a:p xmlns:a="http://schemas.openxmlformats.org/drawingml/2006/main">
            <a:pPr marL="0" indent="0" algn="l">
              <a:spcBef>
                <a:spcPts val="1000"/>
              </a:spcBef>
              <a:spcAft>
                <a:spcPts val="0"/>
              </a:spcAft>
              <a:buNone/>
            </a:pPr>
            <a:r>
              <a:rPr>
                <a:solidFill>
                  <a:schemeClr val="tx1"/>
                </a:solidFill>
                <a:latin typeface="Open Sans"/>
                <a:ea typeface="Open Sans"/>
                <a:cs typeface="Open Sans"/>
              </a:rPr>
              <a:t>Створити веборієнтовану систему обліку витрат часу працівників логістичного підприємства.</a:t>
            </a:r>
          </a:p>
          <a:p xmlns:a="http://schemas.openxmlformats.org/drawingml/2006/main">
            <a:pPr marL="0" indent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>
                <a:solidFill>
                  <a:schemeClr val="tx1"/>
                </a:solidFill>
                <a:latin typeface="Open Sans"/>
                <a:ea typeface="Open Sans"/>
                <a:cs typeface="Open Sans"/>
              </a:rPr>
              <a:t>Ключові завдання</a:t>
            </a:r>
          </a:p>
        </p:txBody>
      </p:sp>
      <p:pic>
        <p:nvPicPr>
          <p:cNvPr id="76" name="Google Shape;73;p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aaa889a3a84d07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84200" y="4399282"/>
            <a:ext cx="862250" cy="5817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893E68CA-DEF7-D32D-BFB6-7B402335F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4606349"/>
            <a:ext cx="284052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fld id="{A35EEF41-5B9E-4186-8855-3C8162DCC2D6}" type="slidenum">
              <a:t>2</a:t>
            </a:fld>
          </a:p>
        </p:txBody>
      </p:sp>
      <p:sp>
        <p:nvSpPr>
          <p:cNvPr id="6" name="Google Shape;72;p14">
            <a:extLst xmlns:a="http://schemas.openxmlformats.org/drawingml/2006/main">
              <a:ext uri="{FF2B5EF4-FFF2-40B4-BE49-F238E27FC236}">
                <a16:creationId xmlns:a16="http://schemas.microsoft.com/office/drawing/2014/main" id="{26BD210F-4581-28FA-291E-F3962488E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200" y="2743225"/>
            <a:ext cx="4816800" cy="1449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 fontScale="100000"/>
          </a:bodyPr>
          <a:lstStyle xmlns:a="http://schemas.openxmlformats.org/drawingml/2006/main">
            <a:lvl1pPr marL="457200" marR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 b="0" i="0" u="none" cap="none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1pPr>
            <a:lvl2pPr marL="9144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cap="none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2pPr>
            <a:lvl3pPr marL="13716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cap="none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3pPr>
            <a:lvl4pPr marL="18288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sz="1400" b="0" i="0" u="none" cap="none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4pPr>
            <a:lvl5pPr marL="22860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cap="none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5pPr>
            <a:lvl6pPr marL="27432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cap="none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6pPr>
            <a:lvl7pPr marL="32004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sz="1400" b="0" i="0" u="none" cap="none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7pPr>
            <a:lvl8pPr marL="36576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cap="none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8pPr>
            <a:lvl9pPr marL="41148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cap="none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9pPr>
          </a:lstStyle>
          <a:p xmlns:a="http://schemas.openxmlformats.org/drawingml/2006/main">
            <a:pPr marL="285750" indent="-285750">
              <a:lnSpc>
                <a:spcPct val="100000"/>
              </a:lnSpc>
              <a:spcBef>
                <a:spcPts val="600"/>
              </a:spcBef>
              <a:buFont typeface="Open Sans"/>
              <a:buChar char="•"/>
            </a:pPr>
            <a:r>
              <a:rPr>
                <a:solidFill>
                  <a:schemeClr val="tx1"/>
                </a:solidFill>
                <a:latin typeface="Open Sans"/>
                <a:ea typeface="Open Sans"/>
                <a:cs typeface="Open Sans"/>
              </a:rPr>
              <a:t>проаналізувати процес і вимоги;</a:t>
            </a:r>
          </a:p>
          <a:p xmlns:a="http://schemas.openxmlformats.org/drawingml/2006/main">
            <a:pPr marL="285750" indent="-285750">
              <a:lnSpc>
                <a:spcPct val="100000"/>
              </a:lnSpc>
              <a:spcBef>
                <a:spcPts val="600"/>
              </a:spcBef>
              <a:buFont typeface="Open Sans"/>
              <a:buChar char="•"/>
            </a:pPr>
            <a:r>
              <a:rPr>
                <a:solidFill>
                  <a:schemeClr val="tx1"/>
                </a:solidFill>
                <a:latin typeface="Open Sans"/>
                <a:ea typeface="Open Sans"/>
                <a:cs typeface="Open Sans"/>
              </a:rPr>
              <a:t>спроєктувати ролі, дані та стани;</a:t>
            </a:r>
          </a:p>
          <a:p xmlns:a="http://schemas.openxmlformats.org/drawingml/2006/main">
            <a:pPr marL="285750" indent="-285750">
              <a:lnSpc>
                <a:spcPct val="100000"/>
              </a:lnSpc>
              <a:spcBef>
                <a:spcPts val="600"/>
              </a:spcBef>
              <a:buFont typeface="Open Sans"/>
              <a:buChar char="•"/>
            </a:pPr>
            <a:r>
              <a:rPr>
                <a:solidFill>
                  <a:schemeClr val="tx1"/>
                </a:solidFill>
                <a:latin typeface="Open Sans"/>
                <a:ea typeface="Open Sans"/>
                <a:cs typeface="Open Sans"/>
              </a:rPr>
              <a:t>реалізувати замовлення, задачі й записи;</a:t>
            </a:r>
          </a:p>
        </p:txBody>
      </p:sp>
      <p:sp>
        <p:nvSpPr>
          <p:cNvPr id="7" name="Google Shape;72;p14">
            <a:extLst xmlns:a="http://schemas.openxmlformats.org/drawingml/2006/main">
              <a:ext uri="{FF2B5EF4-FFF2-40B4-BE49-F238E27FC236}">
                <a16:creationId xmlns:a16="http://schemas.microsoft.com/office/drawing/2014/main" id="{36A14E77-2851-9287-78CA-7CA8D5BFC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2600" y="2715634"/>
            <a:ext cx="3781200" cy="1449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 fontScale="92376"/>
          </a:bodyPr>
          <a:lstStyle xmlns:a="http://schemas.openxmlformats.org/drawingml/2006/main">
            <a:lvl1pPr marL="457200" marR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 b="0" i="0" u="none" cap="none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1pPr>
            <a:lvl2pPr marL="9144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cap="none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2pPr>
            <a:lvl3pPr marL="13716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cap="none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3pPr>
            <a:lvl4pPr marL="18288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sz="1400" b="0" i="0" u="none" cap="none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4pPr>
            <a:lvl5pPr marL="22860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cap="none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5pPr>
            <a:lvl6pPr marL="27432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cap="none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6pPr>
            <a:lvl7pPr marL="32004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sz="1400" b="0" i="0" u="none" cap="none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7pPr>
            <a:lvl8pPr marL="36576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cap="none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8pPr>
            <a:lvl9pPr marL="41148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cap="none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9pPr>
          </a:lstStyle>
          <a:p xmlns:a="http://schemas.openxmlformats.org/drawingml/2006/main">
            <a:pPr marL="285750" indent="-285750">
              <a:lnSpc>
                <a:spcPct val="100000"/>
              </a:lnSpc>
              <a:spcBef>
                <a:spcPts val="600"/>
              </a:spcBef>
              <a:buFont typeface="Open Sans"/>
              <a:buChar char="•"/>
            </a:pPr>
            <a:r>
              <a:rPr>
                <a:solidFill>
                  <a:schemeClr val="tx1"/>
                </a:solidFill>
                <a:latin typeface="Open Sans"/>
                <a:ea typeface="Open Sans"/>
                <a:cs typeface="Open Sans"/>
              </a:rPr>
              <a:t>фіксувати ставку, вартість і аудит;</a:t>
            </a:r>
          </a:p>
          <a:p xmlns:a="http://schemas.openxmlformats.org/drawingml/2006/main">
            <a:pPr marL="285750" indent="-285750">
              <a:lnSpc>
                <a:spcPct val="100000"/>
              </a:lnSpc>
              <a:spcBef>
                <a:spcPts val="600"/>
              </a:spcBef>
              <a:buFont typeface="Open Sans"/>
              <a:buChar char="•"/>
            </a:pPr>
            <a:r>
              <a:rPr>
                <a:solidFill>
                  <a:schemeClr val="tx1"/>
                </a:solidFill>
                <a:latin typeface="Open Sans"/>
                <a:ea typeface="Open Sans"/>
                <a:cs typeface="Open Sans"/>
              </a:rPr>
              <a:t>формувати HTML-звіт і XLSX;</a:t>
            </a:r>
          </a:p>
          <a:p xmlns:a="http://schemas.openxmlformats.org/drawingml/2006/main">
            <a:pPr marL="285750" indent="-285750">
              <a:lnSpc>
                <a:spcPct val="100000"/>
              </a:lnSpc>
              <a:spcBef>
                <a:spcPts val="600"/>
              </a:spcBef>
              <a:buFont typeface="Open Sans"/>
              <a:buChar char="•"/>
            </a:pPr>
            <a:r>
              <a:t>перевірити доступ, тести й deployment.</a:t>
            </a:r>
          </a:p>
        </p:txBody>
      </p:sp>
    </p:spTree>
    <p:extLst>
      <p:ext uri="{BB962C8B-B14F-4D97-AF65-F5344CB8AC3E}">
        <p14:creationId xmlns:p14="http://schemas.microsoft.com/office/powerpoint/2010/main" val="100733853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5" name="Google Shape;85;p16">
            <a:extLst xmlns:a="http://schemas.openxmlformats.org/drawingml/2006/main">
              <a:ext uri="{FF2B5EF4-FFF2-40B4-BE49-F238E27FC236}">
                <a16:creationId xmlns:a16="http://schemas.microsoft.com/office/drawing/2014/main" id="{DCAFE08D-59A6-4FC3-B050-38B8FBD4527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-80310"/>
            <a:ext cx="8520600" cy="831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200"/>
              <a:t>Ролі та відповідальність</a:t>
            </a:r>
          </a:p>
        </p:txBody>
      </p:sp>
      <p:sp>
        <p:nvSpPr>
          <p:cNvPr id="86" name="Google Shape;86;p16">
            <a:extLst xmlns:a="http://schemas.openxmlformats.org/drawingml/2006/main">
              <a:ext uri="{FF2B5EF4-FFF2-40B4-BE49-F238E27FC236}">
                <a16:creationId xmlns:a16="http://schemas.microsoft.com/office/drawing/2014/main" id="{954DC166-0F8B-4010-A18D-24EE8F12343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569730"/>
            <a:ext cx="8520600" cy="335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spcBef>
                <a:spcPts val="1500"/>
              </a:spcBef>
              <a:buNone/>
            </a:pPr>
            <a:r>
              <a:rPr b="1">
                <a:latin typeface="Open Sans"/>
                <a:ea typeface="Open Sans"/>
                <a:cs typeface="Open Sans"/>
              </a:rPr>
              <a:t>LogiTime розділяє введення, контроль і звітність між чотирма ролями.</a:t>
            </a:r>
          </a:p>
        </p:txBody>
      </p:sp>
      <p:pic>
        <p:nvPicPr>
          <p:cNvPr id="90" name="Google Shape;87;p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2e9779ae464fd3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68925" y="4359500"/>
            <a:ext cx="862250" cy="5817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723D9805-068E-FE7E-BC9A-0C410D68B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4606349"/>
            <a:ext cx="284052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fld id="{202359C0-8A7A-196E-DD58-8E6569619F09}" type="slidenum">
              <a:t>3</a:t>
            </a:fld>
          </a:p>
        </p:txBody>
      </p:sp>
      <p:sp>
        <p:nvSpPr>
          <p:cNvPr id="3" name="Google Shape;72;p14">
            <a:extLst xmlns:a="http://schemas.openxmlformats.org/drawingml/2006/main">
              <a:ext uri="{FF2B5EF4-FFF2-40B4-BE49-F238E27FC236}">
                <a16:creationId xmlns:a16="http://schemas.microsoft.com/office/drawing/2014/main" id="{EC455A07-CDEC-3F6A-90C0-4C877F2B1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600" y="2586764"/>
            <a:ext cx="8360640" cy="19870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 fontScale="100000"/>
          </a:bodyPr>
          <a:lstStyle xmlns:a="http://schemas.openxmlformats.org/drawingml/2006/main">
            <a:lvl1pPr marL="457200" marR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 b="0" i="0" u="none" cap="none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1pPr>
            <a:lvl2pPr marL="9144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cap="none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2pPr>
            <a:lvl3pPr marL="13716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cap="none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3pPr>
            <a:lvl4pPr marL="18288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sz="1400" b="0" i="0" u="none" cap="none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4pPr>
            <a:lvl5pPr marL="22860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cap="none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5pPr>
            <a:lvl6pPr marL="27432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cap="none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6pPr>
            <a:lvl7pPr marL="32004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sz="1400" b="0" i="0" u="none" cap="none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7pPr>
            <a:lvl8pPr marL="36576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cap="none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8pPr>
            <a:lvl9pPr marL="41148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cap="none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9pPr>
          </a:lstStyle>
          <a:p xmlns:a="http://schemas.openxmlformats.org/drawingml/2006/main">
            <a:pPr marL="285750" indent="-285750">
              <a:lnSpc>
                <a:spcPct val="100000"/>
              </a:lnSpc>
              <a:spcBef>
                <a:spcPts val="600"/>
              </a:spcBef>
              <a:buFont typeface="Open Sans"/>
              <a:buChar char="•"/>
            </a:pPr>
            <a:r>
              <a:rPr>
                <a:solidFill>
                  <a:schemeClr val="tx1"/>
                </a:solidFill>
                <a:latin typeface="Open Sans"/>
                <a:ea typeface="Open Sans"/>
                <a:cs typeface="Open Sans"/>
              </a:rPr>
              <a:t>Адміністратор: акаунти, профілі, ставки, звіт.</a:t>
            </a:r>
          </a:p>
          <a:p xmlns:a="http://schemas.openxmlformats.org/drawingml/2006/main">
            <a:pPr marL="285750" indent="-285750">
              <a:lnSpc>
                <a:spcPct val="100000"/>
              </a:lnSpc>
              <a:spcBef>
                <a:spcPts val="600"/>
              </a:spcBef>
              <a:buFont typeface="Open Sans"/>
              <a:buChar char="•"/>
            </a:pPr>
            <a:r>
              <a:rPr>
                <a:solidFill>
                  <a:schemeClr val="tx1"/>
                </a:solidFill>
                <a:latin typeface="Open Sans"/>
                <a:ea typeface="Open Sans"/>
                <a:cs typeface="Open Sans"/>
              </a:rPr>
              <a:t>Менеджер: клієнти, замовлення, задачі, призначення, рішення.</a:t>
            </a:r>
          </a:p>
          <a:p xmlns:a="http://schemas.openxmlformats.org/drawingml/2006/main">
            <a:pPr marL="285750" indent="-285750">
              <a:lnSpc>
                <a:spcPct val="100000"/>
              </a:lnSpc>
              <a:spcBef>
                <a:spcPts val="600"/>
              </a:spcBef>
              <a:buFont typeface="Open Sans"/>
              <a:buChar char="•"/>
            </a:pPr>
            <a:r>
              <a:rPr>
                <a:solidFill>
                  <a:schemeClr val="tx1"/>
                </a:solidFill>
                <a:latin typeface="Open Sans"/>
                <a:ea typeface="Open Sans"/>
                <a:cs typeface="Open Sans"/>
              </a:rPr>
              <a:t>Працівник: записи лише за доступними задачами.</a:t>
            </a:r>
          </a:p>
          <a:p xmlns:a="http://schemas.openxmlformats.org/drawingml/2006/main">
            <a:pPr marL="285750" indent="-285750">
              <a:lnSpc>
                <a:spcPct val="100000"/>
              </a:lnSpc>
              <a:spcBef>
                <a:spcPts val="600"/>
              </a:spcBef>
              <a:buFont typeface="Open Sans"/>
              <a:buChar char="•"/>
            </a:pPr>
            <a:r>
              <a:rPr>
                <a:solidFill>
                  <a:schemeClr val="tx1"/>
                </a:solidFill>
                <a:latin typeface="Open Sans"/>
                <a:ea typeface="Open Sans"/>
                <a:cs typeface="Open Sans"/>
              </a:rPr>
              <a:t>Бухгалтер: читання звіту та XLSX.</a:t>
            </a:r>
          </a:p>
        </p:txBody>
      </p:sp>
    </p:spTree>
    <p:extLst>
      <p:ext uri="{BB962C8B-B14F-4D97-AF65-F5344CB8AC3E}">
        <p14:creationId xmlns:p14="http://schemas.microsoft.com/office/powerpoint/2010/main" val="200293605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9" name="Google Shape;99;p18">
            <a:extLst xmlns:a="http://schemas.openxmlformats.org/drawingml/2006/main">
              <a:ext uri="{FF2B5EF4-FFF2-40B4-BE49-F238E27FC236}">
                <a16:creationId xmlns:a16="http://schemas.microsoft.com/office/drawing/2014/main" id="{08283934-9012-BEB3-50A3-DF828CD43B6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43724" y="272780"/>
            <a:ext cx="4483075" cy="52874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200"/>
              <a:t>Дані та фактична робота</a:t>
            </a:r>
          </a:p>
        </p:txBody>
      </p:sp>
      <p:pic>
        <p:nvPicPr>
          <p:cNvPr id="103" name="Google Shape;101;p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c64a7045254f34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64925" y="4350502"/>
            <a:ext cx="862250" cy="5817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C86A52D0-87F0-764A-C93D-93432CA8B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4606349"/>
            <a:ext cx="284052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fld id="{EFD6AB9A-5F9E-5F59-51AB-3C8734130965}" type="slidenum">
              <a:t>4</a:t>
            </a:fld>
          </a:p>
        </p:txBody>
      </p:sp>
      <p:pic>
        <p:nvPicPr>
          <p:cNvPr id="105" name="Рисунок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fcbf3b0572438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81708" y="805978"/>
            <a:ext cx="5645475" cy="4064742"/>
          </a:xfrm>
          <a:prstGeom xmlns:a="http://schemas.openxmlformats.org/drawingml/2006/main" prst="rect">
            <a:avLst/>
          </a:prstGeom>
        </p:spPr>
      </p:pic>
      <p:sp>
        <p:nvSpPr>
          <p:cNvPr id="5" name="Google Shape;72;p14">
            <a:extLst xmlns:a="http://schemas.openxmlformats.org/drawingml/2006/main">
              <a:ext uri="{FF2B5EF4-FFF2-40B4-BE49-F238E27FC236}">
                <a16:creationId xmlns:a16="http://schemas.microsoft.com/office/drawing/2014/main" id="{FBDE33DF-A7BB-91D3-4D4F-9A6E1C37B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6017" y="1608412"/>
            <a:ext cx="3446275" cy="24598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 fontScale="94564"/>
          </a:bodyPr>
          <a:lstStyle xmlns:a="http://schemas.openxmlformats.org/drawingml/2006/main">
            <a:lvl1pPr marL="457200" marR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 b="0" i="0" u="none" cap="none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1pPr>
            <a:lvl2pPr marL="9144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cap="none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2pPr>
            <a:lvl3pPr marL="13716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cap="none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3pPr>
            <a:lvl4pPr marL="18288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sz="1400" b="0" i="0" u="none" cap="none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4pPr>
            <a:lvl5pPr marL="22860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cap="none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5pPr>
            <a:lvl6pPr marL="27432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cap="none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6pPr>
            <a:lvl7pPr marL="32004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sz="1400" b="0" i="0" u="none" cap="none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7pPr>
            <a:lvl8pPr marL="36576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cap="none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8pPr>
            <a:lvl9pPr marL="41148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cap="none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9pPr>
          </a:lstStyle>
          <a:p xmlns:a="http://schemas.openxmlformats.org/drawingml/2006/main">
            <a:pPr marL="285750" indent="-285750">
              <a:lnSpc>
                <a:spcPct val="100000"/>
              </a:lnSpc>
              <a:spcBef>
                <a:spcPts val="600"/>
              </a:spcBef>
              <a:buFont typeface="Open Sans"/>
              <a:buChar char="•"/>
            </a:pPr>
            <a:r>
              <a:rPr sz="1600">
                <a:solidFill>
                  <a:schemeClr val="tx1"/>
                </a:solidFill>
                <a:latin typeface="Open Sans"/>
                <a:ea typeface="Open Sans"/>
                <a:cs typeface="Open Sans"/>
              </a:rPr>
              <a:t>Ключові сутності</a:t>
            </a:r>
          </a:p>
          <a:p xmlns:a="http://schemas.openxmlformats.org/drawingml/2006/main">
            <a:pPr marL="285750" indent="-285750">
              <a:lnSpc>
                <a:spcPct val="100000"/>
              </a:lnSpc>
              <a:spcBef>
                <a:spcPts val="600"/>
              </a:spcBef>
              <a:buFont typeface="Open Sans"/>
              <a:buChar char="•"/>
            </a:pPr>
            <a:r>
              <a:rPr sz="1600">
                <a:solidFill>
                  <a:schemeClr val="tx1"/>
                </a:solidFill>
                <a:latin typeface="Open Sans"/>
                <a:ea typeface="Open Sans"/>
                <a:cs typeface="Open Sans"/>
              </a:rPr>
              <a:t>User: роль.</a:t>
            </a:r>
          </a:p>
          <a:p xmlns:a="http://schemas.openxmlformats.org/drawingml/2006/main">
            <a:pPr marL="285750" indent="-285750">
              <a:lnSpc>
                <a:spcPct val="100000"/>
              </a:lnSpc>
              <a:spcBef>
                <a:spcPts val="600"/>
              </a:spcBef>
              <a:buFont typeface="Open Sans"/>
              <a:buChar char="•"/>
            </a:pPr>
            <a:r>
              <a:t>EmployeeProfile: номер, посада, ставка.</a:t>
            </a:r>
          </a:p>
          <a:p xmlns:a="http://schemas.openxmlformats.org/drawingml/2006/main">
            <a:pPr marL="285750" indent="-285750">
              <a:lnSpc>
                <a:spcPct val="100000"/>
              </a:lnSpc>
              <a:spcBef>
                <a:spcPts val="600"/>
              </a:spcBef>
              <a:buFont typeface="Open Sans"/>
              <a:buChar char="•"/>
            </a:pPr>
            <a:r>
              <a:t>Client, LogisticsOrder, OrderTask.</a:t>
            </a:r>
          </a:p>
          <a:p xmlns:a="http://schemas.openxmlformats.org/drawingml/2006/main">
            <a:pPr marL="285750" indent="-285750">
              <a:lnSpc>
                <a:spcPct val="100000"/>
              </a:lnSpc>
              <a:spcBef>
                <a:spcPts val="600"/>
              </a:spcBef>
              <a:buFont typeface="Open Sans"/>
              <a:buChar char="•"/>
            </a:pPr>
            <a:r>
              <a:t>TimeEntry: години, snapshot ставки, вартість.</a:t>
            </a:r>
          </a:p>
          <a:p xmlns:a="http://schemas.openxmlformats.org/drawingml/2006/main">
            <a:pPr marL="285750" indent="-285750">
              <a:lnSpc>
                <a:spcPct val="100000"/>
              </a:lnSpc>
              <a:spcBef>
                <a:spcPts val="600"/>
              </a:spcBef>
              <a:buFont typeface="Open Sans"/>
              <a:buChar char="•"/>
            </a:pPr>
            <a:r>
              <a:t>TimeEntryHistory: аудит.</a:t>
            </a:r>
          </a:p>
        </p:txBody>
      </p:sp>
    </p:spTree>
    <p:extLst>
      <p:ext uri="{BB962C8B-B14F-4D97-AF65-F5344CB8AC3E}">
        <p14:creationId xmlns:p14="http://schemas.microsoft.com/office/powerpoint/2010/main" val="146274523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9" name="Google Shape;99;p18">
            <a:extLst xmlns:a="http://schemas.openxmlformats.org/drawingml/2006/main">
              <a:ext uri="{FF2B5EF4-FFF2-40B4-BE49-F238E27FC236}">
                <a16:creationId xmlns:a16="http://schemas.microsoft.com/office/drawing/2014/main" id="{3A394AC7-AD1F-813D-3247-2882D3D34F3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68925" y="296650"/>
            <a:ext cx="8520600" cy="52874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200"/>
              <a:t>Життєвий цикл запису часу</a:t>
            </a:r>
          </a:p>
        </p:txBody>
      </p:sp>
      <p:pic>
        <p:nvPicPr>
          <p:cNvPr id="103" name="Google Shape;101;p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71021c47a14963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64925" y="4350502"/>
            <a:ext cx="862250" cy="5817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33683C18-EA00-7AB8-92D4-0EC09FEAA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4606349"/>
            <a:ext cx="284052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fld id="{EE5B3003-2C54-13C6-9832-7637201064DE}" type="slidenum">
              <a:t>5</a:t>
            </a:fld>
          </a:p>
        </p:txBody>
      </p:sp>
      <p:sp>
        <p:nvSpPr>
          <p:cNvPr id="9" name="Google Shape;72;p14">
            <a:extLst xmlns:a="http://schemas.openxmlformats.org/drawingml/2006/main">
              <a:ext uri="{FF2B5EF4-FFF2-40B4-BE49-F238E27FC236}">
                <a16:creationId xmlns:a16="http://schemas.microsoft.com/office/drawing/2014/main" id="{DDB4D361-7F03-CA7C-BD18-57337B52B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925" y="844806"/>
            <a:ext cx="3588192" cy="11973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marR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 b="0" i="0" u="none" cap="none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1pPr>
            <a:lvl2pPr marL="9144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cap="none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2pPr>
            <a:lvl3pPr marL="13716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cap="none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3pPr>
            <a:lvl4pPr marL="18288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sz="1400" b="0" i="0" u="none" cap="none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4pPr>
            <a:lvl5pPr marL="22860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cap="none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5pPr>
            <a:lvl6pPr marL="27432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cap="none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6pPr>
            <a:lvl7pPr marL="32004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sz="1400" b="0" i="0" u="none" cap="none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7pPr>
            <a:lvl8pPr marL="36576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cap="none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8pPr>
            <a:lvl9pPr marL="41148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cap="none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9pPr>
          </a:lstStyle>
          <a:p xmlns:a="http://schemas.openxmlformats.org/drawingml/2006/main">
            <a:pPr marL="285750" indent="-285750">
              <a:lnSpc>
                <a:spcPct val="100000"/>
              </a:lnSpc>
              <a:spcBef>
                <a:spcPts val="600"/>
              </a:spcBef>
              <a:buFont typeface="Open Sans"/>
              <a:buChar char="•"/>
            </a:pPr>
          </a:p>
        </p:txBody>
      </p:sp>
      <p:pic>
        <p:nvPicPr>
          <p:cNvPr id="106" name="Рисунок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5f78368f3641f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134717" y="790906"/>
            <a:ext cx="5017958" cy="4123220"/>
          </a:xfrm>
          <a:prstGeom xmlns:a="http://schemas.openxmlformats.org/drawingml/2006/main" prst="rect">
            <a:avLst/>
          </a:prstGeom>
        </p:spPr>
      </p:pic>
      <p:sp>
        <p:nvSpPr>
          <p:cNvPr id="5" name="Google Shape;72;p14">
            <a:extLst xmlns:a="http://schemas.openxmlformats.org/drawingml/2006/main">
              <a:ext uri="{FF2B5EF4-FFF2-40B4-BE49-F238E27FC236}">
                <a16:creationId xmlns:a16="http://schemas.microsoft.com/office/drawing/2014/main" id="{4B89F94C-3FAD-BBE3-C6D5-ABA58ED74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1600" y="1104162"/>
            <a:ext cx="4173475" cy="32234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 fontScale="100000"/>
          </a:bodyPr>
          <a:lstStyle xmlns:a="http://schemas.openxmlformats.org/drawingml/2006/main">
            <a:lvl1pPr marL="457200" marR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 b="0" i="0" u="none" cap="none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1pPr>
            <a:lvl2pPr marL="9144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cap="none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2pPr>
            <a:lvl3pPr marL="13716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cap="none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3pPr>
            <a:lvl4pPr marL="18288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sz="1400" b="0" i="0" u="none" cap="none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4pPr>
            <a:lvl5pPr marL="22860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cap="none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5pPr>
            <a:lvl6pPr marL="27432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cap="none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6pPr>
            <a:lvl7pPr marL="32004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sz="1400" b="0" i="0" u="none" cap="none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7pPr>
            <a:lvl8pPr marL="36576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cap="none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8pPr>
            <a:lvl9pPr marL="41148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cap="none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9pPr>
          </a:lstStyle>
          <a:p xmlns:a="http://schemas.openxmlformats.org/drawingml/2006/main">
            <a:pPr marL="285750" indent="-285750">
              <a:lnSpc>
                <a:spcPct val="100000"/>
              </a:lnSpc>
              <a:spcBef>
                <a:spcPts val="600"/>
              </a:spcBef>
              <a:buFont typeface="Open Sans"/>
              <a:buChar char="•"/>
            </a:pPr>
            <a:r>
              <a:rPr sz="1400">
                <a:solidFill>
                  <a:schemeClr val="tx1"/>
                </a:solidFill>
                <a:latin typeface="Open Sans"/>
                <a:ea typeface="Open Sans"/>
                <a:cs typeface="Open Sans"/>
              </a:rPr>
              <a:t>Чотири стани запису часу.</a:t>
            </a:r>
          </a:p>
          <a:p xmlns:a="http://schemas.openxmlformats.org/drawingml/2006/main">
            <a:pPr marL="285750" indent="-285750">
              <a:lnSpc>
                <a:spcPct val="100000"/>
              </a:lnSpc>
              <a:spcBef>
                <a:spcPts val="600"/>
              </a:spcBef>
              <a:buFont typeface="Open Sans"/>
              <a:buChar char="•"/>
            </a:pPr>
            <a:r>
              <a:rPr sz="1400">
                <a:solidFill>
                  <a:schemeClr val="tx1"/>
                </a:solidFill>
                <a:latin typeface="Open Sans"/>
                <a:ea typeface="Open Sans"/>
                <a:cs typeface="Open Sans"/>
              </a:rPr>
              <a:t>Перехід перевіряє роль і належність замовлення.</a:t>
            </a:r>
          </a:p>
          <a:p xmlns:a="http://schemas.openxmlformats.org/drawingml/2006/main">
            <a:pPr marL="742950" indent="-285750">
              <a:lnSpc>
                <a:spcPct val="100000"/>
              </a:lnSpc>
              <a:spcBef>
                <a:spcPts val="600"/>
              </a:spcBef>
              <a:buFont typeface="+mj-lt"/>
              <a:buAutoNum type="arabicPeriod"/>
            </a:pPr>
            <a:r>
              <a:rPr>
                <a:solidFill>
                  <a:schemeClr val="tx1"/>
                </a:solidFill>
                <a:latin typeface="Open Sans"/>
                <a:ea typeface="Open Sans"/>
                <a:cs typeface="Open Sans"/>
              </a:rPr>
              <a:t>Чернетка: створення та редагування.</a:t>
            </a:r>
          </a:p>
          <a:p xmlns:a="http://schemas.openxmlformats.org/drawingml/2006/main">
            <a:pPr marL="742950" indent="-285750">
              <a:lnSpc>
                <a:spcPct val="100000"/>
              </a:lnSpc>
              <a:spcBef>
                <a:spcPts val="600"/>
              </a:spcBef>
              <a:buFont typeface="+mj-lt"/>
              <a:buAutoNum type="arabicPeriod"/>
            </a:pPr>
            <a:r>
              <a:rPr>
                <a:solidFill>
                  <a:schemeClr val="tx1"/>
                </a:solidFill>
                <a:latin typeface="Open Sans"/>
                <a:ea typeface="Open Sans"/>
                <a:cs typeface="Open Sans"/>
              </a:rPr>
              <a:t>Подано: очікує рішення менеджера.</a:t>
            </a:r>
          </a:p>
          <a:p xmlns:a="http://schemas.openxmlformats.org/drawingml/2006/main">
            <a:pPr marL="742950" indent="-285750">
              <a:lnSpc>
                <a:spcPct val="100000"/>
              </a:lnSpc>
              <a:spcBef>
                <a:spcPts val="600"/>
              </a:spcBef>
              <a:buFont typeface="+mj-lt"/>
              <a:buAutoNum type="arabicPeriod"/>
            </a:pPr>
            <a:r>
              <a:rPr>
                <a:solidFill>
                  <a:schemeClr val="tx1"/>
                </a:solidFill>
                <a:latin typeface="Open Sans"/>
                <a:ea typeface="Open Sans"/>
                <a:cs typeface="Open Sans"/>
              </a:rPr>
              <a:t>Рішення: погодження незмінне; відхилення з поясненням.</a:t>
            </a:r>
          </a:p>
        </p:txBody>
      </p:sp>
    </p:spTree>
    <p:extLst>
      <p:ext uri="{BB962C8B-B14F-4D97-AF65-F5344CB8AC3E}">
        <p14:creationId xmlns:p14="http://schemas.microsoft.com/office/powerpoint/2010/main" val="143814886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9" name="Google Shape;99;p18">
            <a:extLst xmlns:a="http://schemas.openxmlformats.org/drawingml/2006/main">
              <a:ext uri="{FF2B5EF4-FFF2-40B4-BE49-F238E27FC236}">
                <a16:creationId xmlns:a16="http://schemas.microsoft.com/office/drawing/2014/main" id="{B5622404-F512-4A6C-B698-2AA5A2D2C3D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68924" y="349659"/>
            <a:ext cx="8659075" cy="831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200"/>
              <a:t>Замовлення та задачі</a:t>
            </a:r>
          </a:p>
        </p:txBody>
      </p:sp>
      <p:pic>
        <p:nvPicPr>
          <p:cNvPr id="103" name="Google Shape;101;p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d1a47974e240bf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68925" y="4359500"/>
            <a:ext cx="862250" cy="5817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12A55726-B906-08A2-C43F-1B00FCF5F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4606349"/>
            <a:ext cx="284052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fld id="{8C630A04-5A25-9E0C-9436-126091DB86B3}" type="slidenum">
              <a:t>6</a:t>
            </a:fld>
          </a:p>
        </p:txBody>
      </p:sp>
      <p:pic>
        <p:nvPicPr>
          <p:cNvPr id="105" name="Рисунок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778d9967ac42b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57537" y="1096898"/>
            <a:ext cx="5832000" cy="3127304"/>
          </a:xfrm>
          <a:prstGeom xmlns:a="http://schemas.openxmlformats.org/drawingml/2006/main" prst="rect">
            <a:avLst/>
          </a:prstGeom>
        </p:spPr>
      </p:pic>
      <p:sp>
        <p:nvSpPr>
          <p:cNvPr id="8" name="Google Shape;72;p14">
            <a:extLst xmlns:a="http://schemas.openxmlformats.org/drawingml/2006/main">
              <a:ext uri="{FF2B5EF4-FFF2-40B4-BE49-F238E27FC236}">
                <a16:creationId xmlns:a16="http://schemas.microsoft.com/office/drawing/2014/main" id="{5829EA91-6B49-12A9-4977-6F7A84243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4799" y="931396"/>
            <a:ext cx="3103200" cy="18620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 fontScale="100000" lnSpcReduction="10000"/>
          </a:bodyPr>
          <a:lstStyle xmlns:a="http://schemas.openxmlformats.org/drawingml/2006/main">
            <a:lvl1pPr marL="457200" marR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 b="0" i="0" u="none" cap="none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1pPr>
            <a:lvl2pPr marL="9144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cap="none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2pPr>
            <a:lvl3pPr marL="13716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cap="none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3pPr>
            <a:lvl4pPr marL="18288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sz="1400" b="0" i="0" u="none" cap="none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4pPr>
            <a:lvl5pPr marL="22860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cap="none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5pPr>
            <a:lvl6pPr marL="27432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cap="none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6pPr>
            <a:lvl7pPr marL="32004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sz="1400" b="0" i="0" u="none" cap="none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7pPr>
            <a:lvl8pPr marL="36576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cap="none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8pPr>
            <a:lvl9pPr marL="41148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cap="none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sz="1400" b="1">
                <a:solidFill>
                  <a:schemeClr val="tx1"/>
                </a:solidFill>
                <a:latin typeface="Open Sans"/>
                <a:ea typeface="Open Sans"/>
                <a:cs typeface="Open Sans"/>
              </a:rPr>
              <a:t>LogisticsOrder</a:t>
            </a:r>
          </a:p>
          <a:p xmlns:a="http://schemas.openxmlformats.org/drawingml/2006/main">
            <a:pPr marL="285750" indent="-285750">
              <a:lnSpc>
                <a:spcPct val="100000"/>
              </a:lnSpc>
              <a:spcBef>
                <a:spcPts val="600"/>
              </a:spcBef>
              <a:buFont typeface="Open Sans"/>
              <a:buChar char="•"/>
            </a:pPr>
            <a:r>
              <a:rPr sz="1400">
                <a:solidFill>
                  <a:schemeClr val="tx1"/>
                </a:solidFill>
                <a:latin typeface="Open Sans"/>
                <a:ea typeface="Open Sans"/>
                <a:cs typeface="Open Sans"/>
              </a:rPr>
              <a:t>Маршрут, строки, задачі та призначення перевіряє сервер.</a:t>
            </a:r>
          </a:p>
        </p:txBody>
      </p:sp>
      <p:sp>
        <p:nvSpPr>
          <p:cNvPr id="9" name="Google Shape;72;p14">
            <a:extLst xmlns:a="http://schemas.openxmlformats.org/drawingml/2006/main">
              <a:ext uri="{FF2B5EF4-FFF2-40B4-BE49-F238E27FC236}">
                <a16:creationId xmlns:a16="http://schemas.microsoft.com/office/drawing/2014/main" id="{05C0607E-83F7-F25D-4A5A-02F0125F2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4799" y="2658019"/>
            <a:ext cx="3254463" cy="18620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 fontScale="100000"/>
          </a:bodyPr>
          <a:lstStyle xmlns:a="http://schemas.openxmlformats.org/drawingml/2006/main">
            <a:lvl1pPr marL="457200" marR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 b="0" i="0" u="none" cap="none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1pPr>
            <a:lvl2pPr marL="9144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cap="none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2pPr>
            <a:lvl3pPr marL="13716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cap="none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3pPr>
            <a:lvl4pPr marL="18288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sz="1400" b="0" i="0" u="none" cap="none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4pPr>
            <a:lvl5pPr marL="22860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cap="none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5pPr>
            <a:lvl6pPr marL="27432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cap="none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6pPr>
            <a:lvl7pPr marL="32004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sz="1400" b="0" i="0" u="none" cap="none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7pPr>
            <a:lvl8pPr marL="36576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cap="none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8pPr>
            <a:lvl9pPr marL="41148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cap="none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sz="1400" b="1">
                <a:solidFill>
                  <a:schemeClr val="tx1"/>
                </a:solidFill>
                <a:latin typeface="Open Sans"/>
                <a:ea typeface="Open Sans"/>
                <a:cs typeface="Open Sans"/>
              </a:rPr>
              <a:t>OrderTask</a:t>
            </a:r>
          </a:p>
          <a:p xmlns:a="http://schemas.openxmlformats.org/drawingml/2006/main">
            <a:pPr marL="285750" indent="-285750">
              <a:lnSpc>
                <a:spcPct val="100000"/>
              </a:lnSpc>
              <a:spcBef>
                <a:spcPts val="600"/>
              </a:spcBef>
              <a:buFont typeface="Open Sans"/>
              <a:buChar char="•"/>
            </a:pPr>
            <a:r>
              <a:rPr sz="1400">
                <a:solidFill>
                  <a:schemeClr val="tx1"/>
                </a:solidFill>
                <a:latin typeface="Open Sans"/>
                <a:ea typeface="Open Sans"/>
                <a:cs typeface="Open Sans"/>
              </a:rPr>
              <a:t>Працівник створює запис лише за призначеною задачею.</a:t>
            </a:r>
          </a:p>
        </p:txBody>
      </p:sp>
    </p:spTree>
    <p:extLst>
      <p:ext uri="{BB962C8B-B14F-4D97-AF65-F5344CB8AC3E}">
        <p14:creationId xmlns:p14="http://schemas.microsoft.com/office/powerpoint/2010/main" val="173336190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5" name="Google Shape;85;p16">
            <a:extLst xmlns:a="http://schemas.openxmlformats.org/drawingml/2006/main">
              <a:ext uri="{FF2B5EF4-FFF2-40B4-BE49-F238E27FC236}">
                <a16:creationId xmlns:a16="http://schemas.microsoft.com/office/drawing/2014/main" id="{DCAFE08D-59A6-4FC3-B050-38B8FBD4527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-80310"/>
            <a:ext cx="8520600" cy="831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200"/>
              <a:t>Погодження і захист від IDOR</a:t>
            </a:r>
          </a:p>
        </p:txBody>
      </p:sp>
      <p:sp>
        <p:nvSpPr>
          <p:cNvPr id="86" name="Google Shape;86;p16">
            <a:extLst xmlns:a="http://schemas.openxmlformats.org/drawingml/2006/main">
              <a:ext uri="{FF2B5EF4-FFF2-40B4-BE49-F238E27FC236}">
                <a16:creationId xmlns:a16="http://schemas.microsoft.com/office/drawing/2014/main" id="{954DC166-0F8B-4010-A18D-24EE8F12343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569730"/>
            <a:ext cx="8520600" cy="335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spcBef>
                <a:spcPts val="1500"/>
              </a:spcBef>
              <a:buNone/>
            </a:pPr>
            <a:r>
              <a:rPr b="1">
                <a:latin typeface="Open Sans"/>
                <a:ea typeface="Open Sans"/>
                <a:cs typeface="Open Sans"/>
              </a:rPr>
              <a:t>Об'єкт отримується лише в межах role-scoped вибірки.</a:t>
            </a:r>
          </a:p>
        </p:txBody>
      </p:sp>
      <p:pic>
        <p:nvPicPr>
          <p:cNvPr id="90" name="Google Shape;87;p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e956d739314cf1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68925" y="4359500"/>
            <a:ext cx="862250" cy="5817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723D9805-068E-FE7E-BC9A-0C410D68B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4606349"/>
            <a:ext cx="284052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fld id="{D3D7D1C8-AE23-AA48-DF65-C742588DBE47}" type="slidenum">
              <a:t>7</a:t>
            </a:fld>
          </a:p>
        </p:txBody>
      </p:sp>
      <p:sp>
        <p:nvSpPr>
          <p:cNvPr id="3" name="Google Shape;72;p14">
            <a:extLst xmlns:a="http://schemas.openxmlformats.org/drawingml/2006/main">
              <a:ext uri="{FF2B5EF4-FFF2-40B4-BE49-F238E27FC236}">
                <a16:creationId xmlns:a16="http://schemas.microsoft.com/office/drawing/2014/main" id="{EC455A07-CDEC-3F6A-90C0-4C877F2B1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600" y="2586764"/>
            <a:ext cx="8360640" cy="19870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 fontScale="100000"/>
          </a:bodyPr>
          <a:lstStyle xmlns:a="http://schemas.openxmlformats.org/drawingml/2006/main">
            <a:lvl1pPr marL="457200" marR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 b="0" i="0" u="none" cap="none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1pPr>
            <a:lvl2pPr marL="9144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cap="none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2pPr>
            <a:lvl3pPr marL="13716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cap="none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3pPr>
            <a:lvl4pPr marL="18288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sz="1400" b="0" i="0" u="none" cap="none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4pPr>
            <a:lvl5pPr marL="22860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cap="none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5pPr>
            <a:lvl6pPr marL="27432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cap="none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6pPr>
            <a:lvl7pPr marL="32004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sz="1400" b="0" i="0" u="none" cap="none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7pPr>
            <a:lvl8pPr marL="36576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cap="none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8pPr>
            <a:lvl9pPr marL="41148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cap="none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9pPr>
          </a:lstStyle>
          <a:p xmlns:a="http://schemas.openxmlformats.org/drawingml/2006/main">
            <a:pPr marL="285750" indent="-285750">
              <a:lnSpc>
                <a:spcPct val="100000"/>
              </a:lnSpc>
              <a:spcBef>
                <a:spcPts val="600"/>
              </a:spcBef>
              <a:buFont typeface="Open Sans"/>
              <a:buChar char="•"/>
            </a:pPr>
            <a:r>
              <a:rPr>
                <a:solidFill>
                  <a:schemeClr val="tx1"/>
                </a:solidFill>
                <a:latin typeface="Open Sans"/>
                <a:ea typeface="Open Sans"/>
                <a:cs typeface="Open Sans"/>
              </a:rPr>
              <a:t>Менеджер бачить лише власні замовлення.</a:t>
            </a:r>
          </a:p>
          <a:p xmlns:a="http://schemas.openxmlformats.org/drawingml/2006/main">
            <a:pPr marL="285750" indent="-285750">
              <a:lnSpc>
                <a:spcPct val="100000"/>
              </a:lnSpc>
              <a:spcBef>
                <a:spcPts val="600"/>
              </a:spcBef>
              <a:buFont typeface="Open Sans"/>
              <a:buChar char="•"/>
            </a:pPr>
            <a:r>
              <a:rPr>
                <a:solidFill>
                  <a:schemeClr val="tx1"/>
                </a:solidFill>
                <a:latin typeface="Open Sans"/>
                <a:ea typeface="Open Sans"/>
                <a:cs typeface="Open Sans"/>
              </a:rPr>
              <a:t>Чужий TimeEntry недоступний через прямий URL.</a:t>
            </a:r>
          </a:p>
          <a:p xmlns:a="http://schemas.openxmlformats.org/drawingml/2006/main">
            <a:pPr marL="285750" indent="-285750">
              <a:lnSpc>
                <a:spcPct val="100000"/>
              </a:lnSpc>
              <a:spcBef>
                <a:spcPts val="600"/>
              </a:spcBef>
              <a:buFont typeface="Open Sans"/>
              <a:buChar char="•"/>
            </a:pPr>
            <a:r>
              <a:rPr>
                <a:solidFill>
                  <a:schemeClr val="tx1"/>
                </a:solidFill>
                <a:latin typeface="Open Sans"/>
                <a:ea typeface="Open Sans"/>
                <a:cs typeface="Open Sans"/>
              </a:rPr>
              <a:t>Відхилення потребує причини для повторного подання.</a:t>
            </a:r>
          </a:p>
        </p:txBody>
      </p:sp>
    </p:spTree>
    <p:extLst>
      <p:ext uri="{BB962C8B-B14F-4D97-AF65-F5344CB8AC3E}">
        <p14:creationId xmlns:p14="http://schemas.microsoft.com/office/powerpoint/2010/main" val="200293605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6" name="Google Shape;106;p19">
            <a:extLst xmlns:a="http://schemas.openxmlformats.org/drawingml/2006/main">
              <a:ext uri="{FF2B5EF4-FFF2-40B4-BE49-F238E27FC236}">
                <a16:creationId xmlns:a16="http://schemas.microsoft.com/office/drawing/2014/main" id="{0B3718B6-4855-7D37-B93B-0195860758D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68925" y="-73882"/>
            <a:ext cx="9256675" cy="831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200"/>
              <a:t>Вартість фіксується у TimeEntry</a:t>
            </a:r>
          </a:p>
        </p:txBody>
      </p:sp>
      <p:pic>
        <p:nvPicPr>
          <p:cNvPr id="111" name="Google Shape;108;p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42466ce98345ab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68925" y="4359500"/>
            <a:ext cx="862250" cy="5817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A702DCD9-F12B-3B2C-D2C2-FD4C49A95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4606349"/>
            <a:ext cx="284052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fld id="{BA58DA2A-B818-18A9-29C1-B697728D5BCE}" type="slidenum">
              <a:t>8</a:t>
            </a:fld>
          </a:p>
        </p:txBody>
      </p:sp>
      <p:sp>
        <p:nvSpPr>
          <p:cNvPr id="5" name="Google Shape;107;p19">
            <a:extLst xmlns:a="http://schemas.openxmlformats.org/drawingml/2006/main">
              <a:ext uri="{FF2B5EF4-FFF2-40B4-BE49-F238E27FC236}">
                <a16:creationId xmlns:a16="http://schemas.microsoft.com/office/drawing/2014/main" id="{2719CC9B-DB4F-1F36-9AC1-E5C523D8429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268925" y="676069"/>
            <a:ext cx="2821910" cy="2885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1500"/>
              </a:spcBef>
              <a:spcAft>
                <a:spcPts val="0"/>
              </a:spcAft>
              <a:buNone/>
            </a:pPr>
            <a:r>
              <a:rPr>
                <a:solidFill>
                  <a:srgbClr val="0D0D0D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</a:rPr>
              <a:t>Формула вартості</a:t>
            </a:r>
          </a:p>
          <a:p xmlns:a="http://schemas.openxmlformats.org/drawingml/2006/main">
            <a:pPr marL="0" indent="0" algn="l">
              <a:spcBef>
                <a:spcPts val="1500"/>
              </a:spcBef>
              <a:spcAft>
                <a:spcPts val="0"/>
              </a:spcAft>
              <a:buNone/>
            </a:pPr>
            <a:r>
              <a:rPr>
                <a:latin typeface="Open Sans"/>
                <a:ea typeface="Open Sans"/>
                <a:cs typeface="Open Sans"/>
              </a:rPr>
              <a:t/>
            </a:r>
          </a:p>
          <a:p xmlns:a="http://schemas.openxmlformats.org/drawingml/2006/main">
            <a:pPr marL="0" indent="0" algn="l">
              <a:spcBef>
                <a:spcPts val="1500"/>
              </a:spcBef>
              <a:spcAft>
                <a:spcPts val="1200"/>
              </a:spcAft>
              <a:buNone/>
            </a:pPr>
            <a:r>
              <a:t>cost = hours × rate_snapshot</a:t>
            </a:r>
          </a:p>
          <a:p xmlns:a="http://schemas.openxmlformats.org/drawingml/2006/main">
            <a:pPr marL="0" indent="0" algn="l">
              <a:spcBef>
                <a:spcPts val="1500"/>
              </a:spcBef>
              <a:spcAft>
                <a:spcPts val="1200"/>
              </a:spcAft>
              <a:buNone/>
            </a:pPr>
            <a:r>
              <a:t/>
            </a:r>
          </a:p>
          <a:p xmlns:a="http://schemas.openxmlformats.org/drawingml/2006/main">
            <a:pPr marL="0" indent="0" algn="l">
              <a:spcBef>
                <a:spcPts val="1500"/>
              </a:spcBef>
              <a:spcAft>
                <a:spcPts val="1200"/>
              </a:spcAft>
              <a:buNone/>
            </a:pPr>
            <a:r>
              <a:t>Зміна поточної ставки не змінює історичний запис.</a:t>
            </a:r>
          </a:p>
        </p:txBody>
      </p:sp>
      <p:sp>
        <p:nvSpPr>
          <p:cNvPr id="6" name="Google Shape;107;p19">
            <a:extLst xmlns:a="http://schemas.openxmlformats.org/drawingml/2006/main">
              <a:ext uri="{FF2B5EF4-FFF2-40B4-BE49-F238E27FC236}">
                <a16:creationId xmlns:a16="http://schemas.microsoft.com/office/drawing/2014/main" id="{9CD7F941-A2C4-83D9-B9C3-F1AA6102D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42" y="875971"/>
            <a:ext cx="1695017" cy="7136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 fontScale="100000"/>
          </a:bodyPr>
          <a:lstStyle xmlns:a="http://schemas.openxmlformats.org/drawingml/2006/main">
            <a:lvl1pPr marL="457200" marR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 b="0" i="0" u="none" cap="none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1pPr>
            <a:lvl2pPr marL="9144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cap="none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2pPr>
            <a:lvl3pPr marL="13716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cap="none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3pPr>
            <a:lvl4pPr marL="18288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sz="1400" b="0" i="0" u="none" cap="none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4pPr>
            <a:lvl5pPr marL="22860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cap="none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5pPr>
            <a:lvl6pPr marL="27432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cap="none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6pPr>
            <a:lvl7pPr marL="32004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sz="1400" b="0" i="0" u="none" cap="none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7pPr>
            <a:lvl8pPr marL="36576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cap="none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8pPr>
            <a:lvl9pPr marL="41148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cap="none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9pPr>
          </a:lstStyle>
          <a:p xmlns:a="http://schemas.openxmlformats.org/drawingml/2006/main">
            <a:pPr marL="0" indent="0" algn="ctr">
              <a:spcBef>
                <a:spcPts val="800"/>
              </a:spcBef>
              <a:buFont typeface="Open Sans"/>
              <a:buNone/>
            </a:pPr>
            <a:r>
              <a:rPr b="0" i="0">
                <a:solidFill>
                  <a:srgbClr val="BFBFBF"/>
                </a:solidFill>
                <a:latin typeface="Arial"/>
                <a:ea typeface="Arial"/>
                <a:cs typeface="Arial"/>
              </a:rPr>
              <a:t>① години</a:t>
            </a:r>
          </a:p>
        </p:txBody>
      </p:sp>
      <p:sp>
        <p:nvSpPr>
          <p:cNvPr id="8" name="Google Shape;107;p19">
            <a:extLst xmlns:a="http://schemas.openxmlformats.org/drawingml/2006/main">
              <a:ext uri="{FF2B5EF4-FFF2-40B4-BE49-F238E27FC236}">
                <a16:creationId xmlns:a16="http://schemas.microsoft.com/office/drawing/2014/main" id="{3EA1F79C-DB32-01EA-C432-8957E4E5D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1864" y="3108005"/>
            <a:ext cx="2150700" cy="6576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 fontScale="100000"/>
          </a:bodyPr>
          <a:lstStyle xmlns:a="http://schemas.openxmlformats.org/drawingml/2006/main">
            <a:lvl1pPr marL="457200" marR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 b="0" i="0" u="none" cap="none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1pPr>
            <a:lvl2pPr marL="9144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cap="none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2pPr>
            <a:lvl3pPr marL="13716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cap="none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3pPr>
            <a:lvl4pPr marL="18288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sz="1400" b="0" i="0" u="none" cap="none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4pPr>
            <a:lvl5pPr marL="22860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cap="none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5pPr>
            <a:lvl6pPr marL="27432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cap="none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6pPr>
            <a:lvl7pPr marL="32004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sz="1400" b="0" i="0" u="none" cap="none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7pPr>
            <a:lvl8pPr marL="36576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cap="none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8pPr>
            <a:lvl9pPr marL="41148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cap="none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9pPr>
          </a:lstStyle>
          <a:p xmlns:a="http://schemas.openxmlformats.org/drawingml/2006/main">
            <a:pPr marL="0" indent="0" algn="ctr">
              <a:spcBef>
                <a:spcPts val="800"/>
              </a:spcBef>
              <a:buFont typeface="Open Sans"/>
              <a:buNone/>
            </a:pPr>
            <a:r>
              <a:rPr b="0" i="0">
                <a:solidFill>
                  <a:srgbClr val="BFBFBF"/>
                </a:solidFill>
                <a:latin typeface="Arial"/>
                <a:ea typeface="Arial"/>
                <a:cs typeface="Arial"/>
              </a:rPr>
              <a:t>③ звіт</a:t>
            </a:r>
          </a:p>
        </p:txBody>
      </p:sp>
      <p:sp>
        <p:nvSpPr>
          <p:cNvPr id="12" name="Google Shape;107;p19">
            <a:extLst xmlns:a="http://schemas.openxmlformats.org/drawingml/2006/main">
              <a:ext uri="{FF2B5EF4-FFF2-40B4-BE49-F238E27FC236}">
                <a16:creationId xmlns:a16="http://schemas.microsoft.com/office/drawing/2014/main" id="{D1861DB8-F2A9-2850-54DD-3264E10E7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156" y="2384635"/>
            <a:ext cx="2617370" cy="5913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 fontScale="100000" lnSpcReduction="10000"/>
          </a:bodyPr>
          <a:lstStyle xmlns:a="http://schemas.openxmlformats.org/drawingml/2006/main">
            <a:lvl1pPr marL="457200" marR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 b="0" i="0" u="none" cap="none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1pPr>
            <a:lvl2pPr marL="9144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cap="none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2pPr>
            <a:lvl3pPr marL="13716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cap="none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3pPr>
            <a:lvl4pPr marL="18288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sz="1400" b="0" i="0" u="none" cap="none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4pPr>
            <a:lvl5pPr marL="22860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cap="none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5pPr>
            <a:lvl6pPr marL="27432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cap="none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6pPr>
            <a:lvl7pPr marL="32004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sz="1400" b="0" i="0" u="none" cap="none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7pPr>
            <a:lvl8pPr marL="36576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cap="none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8pPr>
            <a:lvl9pPr marL="41148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cap="none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9pPr>
          </a:lstStyle>
          <a:p xmlns:a="http://schemas.openxmlformats.org/drawingml/2006/main">
            <a:pPr marL="0" indent="0" algn="ctr">
              <a:spcBef>
                <a:spcPts val="800"/>
              </a:spcBef>
              <a:buFont typeface="Open Sans"/>
              <a:buNone/>
            </a:pPr>
            <a:r>
              <a:rPr>
                <a:solidFill>
                  <a:srgbClr val="0D0D0D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</a:rPr>
              <a:t>rate_snapshot</a:t>
            </a:r>
          </a:p>
        </p:txBody>
      </p:sp>
      <p:sp>
        <p:nvSpPr>
          <p:cNvPr id="13" name="Google Shape;107;p19">
            <a:extLst xmlns:a="http://schemas.openxmlformats.org/drawingml/2006/main">
              <a:ext uri="{FF2B5EF4-FFF2-40B4-BE49-F238E27FC236}">
                <a16:creationId xmlns:a16="http://schemas.microsoft.com/office/drawing/2014/main" id="{2FE2276A-F3C1-B0CB-2542-3F7F06AD8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3913" y="3587723"/>
            <a:ext cx="2433181" cy="12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 fontScale="98165"/>
          </a:bodyPr>
          <a:lstStyle xmlns:a="http://schemas.openxmlformats.org/drawingml/2006/main">
            <a:lvl1pPr marL="457200" marR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 b="0" i="0" u="none" cap="none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1pPr>
            <a:lvl2pPr marL="9144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cap="none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2pPr>
            <a:lvl3pPr marL="13716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cap="none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3pPr>
            <a:lvl4pPr marL="18288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sz="1400" b="0" i="0" u="none" cap="none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4pPr>
            <a:lvl5pPr marL="22860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cap="none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5pPr>
            <a:lvl6pPr marL="27432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cap="none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6pPr>
            <a:lvl7pPr marL="32004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sz="1400" b="0" i="0" u="none" cap="none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7pPr>
            <a:lvl8pPr marL="36576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cap="none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8pPr>
            <a:lvl9pPr marL="41148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cap="none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9pPr>
          </a:lstStyle>
          <a:p xmlns:a="http://schemas.openxmlformats.org/drawingml/2006/main">
            <a:pPr marL="0" indent="0" algn="ctr">
              <a:lnSpc>
                <a:spcPct val="100000"/>
              </a:lnSpc>
              <a:spcBef>
                <a:spcPts val="800"/>
              </a:spcBef>
              <a:buFont typeface="Open Sans"/>
              <a:buNone/>
            </a:pPr>
            <a:r>
              <a:rPr>
                <a:solidFill>
                  <a:srgbClr val="0D0D0D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</a:rPr>
              <a:t>HTML і XLSX</a:t>
            </a:r>
          </a:p>
          <a:p xmlns:a="http://schemas.openxmlformats.org/drawingml/2006/main">
            <a:pPr marL="0" indent="0" algn="ctr">
              <a:lnSpc>
                <a:spcPct val="100000"/>
              </a:lnSpc>
              <a:spcBef>
                <a:spcPts val="800"/>
              </a:spcBef>
              <a:buFont typeface="Open Sans"/>
              <a:buNone/>
            </a:pPr>
            <a:r>
              <a:rPr>
                <a:solidFill>
                  <a:srgbClr val="0D0D0D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</a:rPr>
              <a:t>мають одну рольову</a:t>
            </a:r>
          </a:p>
          <a:p xmlns:a="http://schemas.openxmlformats.org/drawingml/2006/main">
            <a:pPr marL="0" indent="0" algn="ctr">
              <a:lnSpc>
                <a:spcPct val="100000"/>
              </a:lnSpc>
              <a:spcBef>
                <a:spcPts val="800"/>
              </a:spcBef>
              <a:buFont typeface="Open Sans"/>
              <a:buNone/>
            </a:pPr>
            <a:r>
              <a:rPr>
                <a:solidFill>
                  <a:srgbClr val="0D0D0D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</a:rPr>
              <a:t>вибірку.</a:t>
            </a:r>
          </a:p>
        </p:txBody>
      </p:sp>
      <p:sp>
        <p:nvSpPr>
          <p:cNvPr id="3" name="Google Shape;107;p19">
            <a:extLst xmlns:a="http://schemas.openxmlformats.org/drawingml/2006/main">
              <a:ext uri="{FF2B5EF4-FFF2-40B4-BE49-F238E27FC236}">
                <a16:creationId xmlns:a16="http://schemas.microsoft.com/office/drawing/2014/main" id="{0C5C1D03-70A0-0C6C-7D3B-16A283FB4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6122" y="1386645"/>
            <a:ext cx="1523637" cy="5913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 fontScale="100000" lnSpcReduction="10000"/>
          </a:bodyPr>
          <a:lstStyle xmlns:a="http://schemas.openxmlformats.org/drawingml/2006/main">
            <a:lvl1pPr marL="457200" marR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 b="0" i="0" u="none" cap="none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1pPr>
            <a:lvl2pPr marL="9144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cap="none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2pPr>
            <a:lvl3pPr marL="13716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cap="none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3pPr>
            <a:lvl4pPr marL="18288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sz="1400" b="0" i="0" u="none" cap="none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4pPr>
            <a:lvl5pPr marL="22860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cap="none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5pPr>
            <a:lvl6pPr marL="27432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cap="none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6pPr>
            <a:lvl7pPr marL="32004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sz="1400" b="0" i="0" u="none" cap="none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7pPr>
            <a:lvl8pPr marL="36576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cap="none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8pPr>
            <a:lvl9pPr marL="41148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cap="none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9pPr>
          </a:lstStyle>
          <a:p xmlns:a="http://schemas.openxmlformats.org/drawingml/2006/main">
            <a:pPr marL="0" indent="0" algn="ctr">
              <a:spcBef>
                <a:spcPts val="800"/>
              </a:spcBef>
              <a:buFont typeface="Open Sans"/>
              <a:buNone/>
            </a:pPr>
            <a:r>
              <a:rPr>
                <a:solidFill>
                  <a:srgbClr val="0D0D0D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</a:rPr>
              <a:t>hours</a:t>
            </a:r>
          </a:p>
        </p:txBody>
      </p:sp>
      <p:sp>
        <p:nvSpPr>
          <p:cNvPr id="4" name="Google Shape;107;p19">
            <a:extLst xmlns:a="http://schemas.openxmlformats.org/drawingml/2006/main">
              <a:ext uri="{FF2B5EF4-FFF2-40B4-BE49-F238E27FC236}">
                <a16:creationId xmlns:a16="http://schemas.microsoft.com/office/drawing/2014/main" id="{E43FF5CC-8547-F0F1-402E-7D6D7B969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3343" y="1996267"/>
            <a:ext cx="1695017" cy="7136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 fontScale="100000"/>
          </a:bodyPr>
          <a:lstStyle xmlns:a="http://schemas.openxmlformats.org/drawingml/2006/main">
            <a:lvl1pPr marL="457200" marR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 b="0" i="0" u="none" cap="none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1pPr>
            <a:lvl2pPr marL="9144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cap="none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2pPr>
            <a:lvl3pPr marL="13716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cap="none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3pPr>
            <a:lvl4pPr marL="18288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sz="1400" b="0" i="0" u="none" cap="none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4pPr>
            <a:lvl5pPr marL="22860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cap="none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5pPr>
            <a:lvl6pPr marL="27432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cap="none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6pPr>
            <a:lvl7pPr marL="32004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sz="1400" b="0" i="0" u="none" cap="none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7pPr>
            <a:lvl8pPr marL="36576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cap="none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8pPr>
            <a:lvl9pPr marL="41148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cap="none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9pPr>
          </a:lstStyle>
          <a:p xmlns:a="http://schemas.openxmlformats.org/drawingml/2006/main">
            <a:pPr marL="0" indent="0" algn="ctr">
              <a:spcBef>
                <a:spcPts val="800"/>
              </a:spcBef>
              <a:buFont typeface="Open Sans"/>
              <a:buNone/>
            </a:pPr>
            <a:r>
              <a:rPr b="0" i="0">
                <a:solidFill>
                  <a:srgbClr val="BFBFBF"/>
                </a:solidFill>
                <a:latin typeface="Arial"/>
                <a:ea typeface="Arial"/>
                <a:cs typeface="Arial"/>
              </a:rPr>
              <a:t>② snapshot</a:t>
            </a:r>
          </a:p>
        </p:txBody>
      </p:sp>
      <p:pic>
        <p:nvPicPr>
          <p:cNvPr id="120" name="Рисунок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9bcd93c9bd464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4726478" y="3054022"/>
            <a:ext cx="3384044" cy="1860104"/>
          </a:xfrm>
          <a:prstGeom xmlns:a="http://schemas.openxmlformats.org/drawingml/2006/main" prst="rect">
            <a:avLst/>
          </a:prstGeom>
        </p:spPr>
      </p:pic>
      <p:pic>
        <p:nvPicPr>
          <p:cNvPr id="121" name="Picture 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b867736ba7d401e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5622453" y="683536"/>
            <a:ext cx="2853588" cy="224224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507591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9" name="Google Shape;99;p18">
            <a:extLst xmlns:a="http://schemas.openxmlformats.org/drawingml/2006/main">
              <a:ext uri="{FF2B5EF4-FFF2-40B4-BE49-F238E27FC236}">
                <a16:creationId xmlns:a16="http://schemas.microsoft.com/office/drawing/2014/main" id="{78B4F13C-E2FC-00EA-6699-F4390568268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68925" y="296650"/>
            <a:ext cx="8520600" cy="52874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200"/>
              <a:t>Архітектура</a:t>
            </a:r>
          </a:p>
        </p:txBody>
      </p:sp>
      <p:pic>
        <p:nvPicPr>
          <p:cNvPr id="103" name="Google Shape;101;p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0e5d9a9c4c41c6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68925" y="4359500"/>
            <a:ext cx="862250" cy="5817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304681CB-3AC9-47F5-F0D8-F22067432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4606349"/>
            <a:ext cx="284052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fld id="{388657AE-30A1-5A7A-6A7F-315D84436430}" type="slidenum">
              <a:t>9</a:t>
            </a:fld>
          </a:p>
        </p:txBody>
      </p:sp>
      <p:sp>
        <p:nvSpPr>
          <p:cNvPr id="9" name="Google Shape;72;p14">
            <a:extLst xmlns:a="http://schemas.openxmlformats.org/drawingml/2006/main">
              <a:ext uri="{FF2B5EF4-FFF2-40B4-BE49-F238E27FC236}">
                <a16:creationId xmlns:a16="http://schemas.microsoft.com/office/drawing/2014/main" id="{FF04766D-F7AC-953D-A00A-C1CE33FD7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925" y="844806"/>
            <a:ext cx="3588192" cy="11973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marR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 b="0" i="0" u="none" cap="none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1pPr>
            <a:lvl2pPr marL="9144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cap="none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2pPr>
            <a:lvl3pPr marL="13716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cap="none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3pPr>
            <a:lvl4pPr marL="18288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sz="1400" b="0" i="0" u="none" cap="none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4pPr>
            <a:lvl5pPr marL="22860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cap="none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5pPr>
            <a:lvl6pPr marL="27432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cap="none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6pPr>
            <a:lvl7pPr marL="32004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sz="1400" b="0" i="0" u="none" cap="none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7pPr>
            <a:lvl8pPr marL="36576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cap="none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8pPr>
            <a:lvl9pPr marL="41148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cap="none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9pPr>
          </a:lstStyle>
          <a:p xmlns:a="http://schemas.openxmlformats.org/drawingml/2006/main">
            <a:pPr marL="285750" indent="-285750">
              <a:lnSpc>
                <a:spcPct val="100000"/>
              </a:lnSpc>
              <a:spcBef>
                <a:spcPts val="600"/>
              </a:spcBef>
              <a:buFont typeface="Open Sans"/>
              <a:buChar char="•"/>
            </a:pPr>
          </a:p>
        </p:txBody>
      </p:sp>
      <p:sp>
        <p:nvSpPr>
          <p:cNvPr id="5" name="Google Shape;72;p14">
            <a:extLst xmlns:a="http://schemas.openxmlformats.org/drawingml/2006/main">
              <a:ext uri="{FF2B5EF4-FFF2-40B4-BE49-F238E27FC236}">
                <a16:creationId xmlns:a16="http://schemas.microsoft.com/office/drawing/2014/main" id="{3B807942-A688-A717-FC5B-6E33C9636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925" y="1402842"/>
            <a:ext cx="3588192" cy="22547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 fontScale="100000"/>
          </a:bodyPr>
          <a:lstStyle xmlns:a="http://schemas.openxmlformats.org/drawingml/2006/main">
            <a:lvl1pPr marL="457200" marR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 b="0" i="0" u="none" cap="none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1pPr>
            <a:lvl2pPr marL="9144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cap="none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2pPr>
            <a:lvl3pPr marL="13716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cap="none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3pPr>
            <a:lvl4pPr marL="18288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sz="1400" b="0" i="0" u="none" cap="none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4pPr>
            <a:lvl5pPr marL="22860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cap="none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5pPr>
            <a:lvl6pPr marL="27432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cap="none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6pPr>
            <a:lvl7pPr marL="32004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sz="1400" b="0" i="0" u="none" cap="none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7pPr>
            <a:lvl8pPr marL="36576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cap="none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8pPr>
            <a:lvl9pPr marL="41148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cap="none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9pPr>
          </a:lstStyle>
          <a:p xmlns:a="http://schemas.openxmlformats.org/drawingml/2006/main">
            <a:pPr marL="285750" indent="-285750">
              <a:lnSpc>
                <a:spcPct val="100000"/>
              </a:lnSpc>
              <a:spcBef>
                <a:spcPts val="600"/>
              </a:spcBef>
              <a:buFont typeface="Open Sans"/>
              <a:buChar char="•"/>
            </a:pPr>
            <a:r>
              <a:rPr sz="1400">
                <a:solidFill>
                  <a:schemeClr val="tx1"/>
                </a:solidFill>
                <a:latin typeface="Open Sans"/>
                <a:ea typeface="Open Sans"/>
                <a:cs typeface="Open Sans"/>
              </a:rPr>
              <a:t>Веб-рівень</a:t>
            </a:r>
          </a:p>
          <a:p xmlns:a="http://schemas.openxmlformats.org/drawingml/2006/main">
            <a:pPr marL="285750" indent="-285750">
              <a:lnSpc>
                <a:spcPct val="100000"/>
              </a:lnSpc>
              <a:spcBef>
                <a:spcPts val="600"/>
              </a:spcBef>
              <a:buFont typeface="Open Sans"/>
              <a:buChar char="•"/>
            </a:pPr>
            <a:r>
              <a:rPr sz="1400">
                <a:solidFill>
                  <a:schemeClr val="tx1"/>
                </a:solidFill>
                <a:latin typeface="Open Sans"/>
                <a:ea typeface="Open Sans"/>
                <a:cs typeface="Open Sans"/>
              </a:rPr>
              <a:t>Nginx: TLS і статика.</a:t>
            </a:r>
          </a:p>
          <a:p xmlns:a="http://schemas.openxmlformats.org/drawingml/2006/main">
            <a:pPr marL="285750" indent="-285750">
              <a:lnSpc>
                <a:spcPct val="100000"/>
              </a:lnSpc>
              <a:spcBef>
                <a:spcPts val="600"/>
              </a:spcBef>
              <a:buFont typeface="Open Sans"/>
              <a:buChar char="•"/>
            </a:pPr>
            <a:r>
              <a:rPr sz="1400">
                <a:solidFill>
                  <a:schemeClr val="tx1"/>
                </a:solidFill>
                <a:latin typeface="Open Sans"/>
                <a:ea typeface="Open Sans"/>
                <a:cs typeface="Open Sans"/>
              </a:rPr>
              <a:t>Gunicorn: WSGI Django.</a:t>
            </a:r>
          </a:p>
          <a:p xmlns:a="http://schemas.openxmlformats.org/drawingml/2006/main">
            <a:pPr marL="285750" indent="-285750">
              <a:lnSpc>
                <a:spcPct val="100000"/>
              </a:lnSpc>
              <a:spcBef>
                <a:spcPts val="600"/>
              </a:spcBef>
              <a:buFont typeface="Open Sans"/>
              <a:buChar char="•"/>
            </a:pPr>
            <a:r>
              <a:rPr sz="1400">
                <a:solidFill>
                  <a:schemeClr val="tx1"/>
                </a:solidFill>
                <a:latin typeface="Open Sans"/>
                <a:ea typeface="Open Sans"/>
                <a:cs typeface="Open Sans"/>
              </a:rPr>
              <a:t>Статус</a:t>
            </a:r>
          </a:p>
          <a:p xmlns:a="http://schemas.openxmlformats.org/drawingml/2006/main">
            <a:pPr marL="285750" indent="-285750">
              <a:lnSpc>
                <a:spcPct val="100000"/>
              </a:lnSpc>
              <a:spcBef>
                <a:spcPts val="600"/>
              </a:spcBef>
              <a:buFont typeface="Open Sans"/>
              <a:buChar char="•"/>
            </a:pPr>
            <a:r>
              <a:rPr sz="1400">
                <a:solidFill>
                  <a:schemeClr val="tx1"/>
                </a:solidFill>
                <a:latin typeface="Open Sans"/>
                <a:ea typeface="Open Sans"/>
                <a:cs typeface="Open Sans"/>
              </a:rPr>
              <a:t>Production-конфігурацію підготовлено.</a:t>
            </a:r>
          </a:p>
          <a:p xmlns:a="http://schemas.openxmlformats.org/drawingml/2006/main">
            <a:pPr marL="285750" indent="-285750">
              <a:lnSpc>
                <a:spcPct val="100000"/>
              </a:lnSpc>
              <a:spcBef>
                <a:spcPts val="600"/>
              </a:spcBef>
              <a:buFont typeface="Open Sans"/>
              <a:buChar char="•"/>
            </a:pPr>
            <a:r>
              <a:rPr sz="1400">
                <a:solidFill>
                  <a:schemeClr val="tx1"/>
                </a:solidFill>
                <a:latin typeface="Open Sans"/>
                <a:ea typeface="Open Sans"/>
                <a:cs typeface="Open Sans"/>
              </a:rPr>
              <a:t>PostgreSQL: цільова СКБД.</a:t>
            </a:r>
          </a:p>
        </p:txBody>
      </p:sp>
      <p:pic>
        <p:nvPicPr>
          <p:cNvPr id="107" name="Рисунок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19c9297444438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3595607" y="0"/>
            <a:ext cx="4762500" cy="29718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244019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1" name="Google Shape;141;p24">
            <a:extLst xmlns:a="http://schemas.openxmlformats.org/drawingml/2006/main">
              <a:ext uri="{FF2B5EF4-FFF2-40B4-BE49-F238E27FC236}">
                <a16:creationId xmlns:a16="http://schemas.microsoft.com/office/drawing/2014/main" id="{10A7E10F-81E4-4F87-B5AA-0A0A06DDDE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-35287"/>
            <a:ext cx="8520600" cy="831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200"/>
              <a:t>Підсумки</a:t>
            </a:r>
          </a:p>
        </p:txBody>
      </p:sp>
      <p:sp>
        <p:nvSpPr>
          <p:cNvPr id="142" name="Google Shape;142;p24">
            <a:extLst xmlns:a="http://schemas.openxmlformats.org/drawingml/2006/main">
              <a:ext uri="{FF2B5EF4-FFF2-40B4-BE49-F238E27FC236}">
                <a16:creationId xmlns:a16="http://schemas.microsoft.com/office/drawing/2014/main" id="{15B1E8AC-B717-43FD-BB9F-8406924C12D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268925" y="851594"/>
            <a:ext cx="8520600" cy="1150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Розроблено веборієнтовану систему обліку витрат часу працівників логістичного підприємства.</a:t>
            </a:r>
          </a:p>
        </p:txBody>
      </p:sp>
      <p:pic>
        <p:nvPicPr>
          <p:cNvPr id="146" name="Google Shape;143;p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3fc8f767c34a56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68925" y="4359500"/>
            <a:ext cx="862250" cy="5817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2B5B94D8-63F6-7EAC-6461-2DB4B1355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4606349"/>
            <a:ext cx="284052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fld id="{DB7BEEEC-A170-5376-2B6E-CB54687B0CB1}" type="slidenum">
              <a:t>10</a:t>
            </a:fld>
          </a:p>
        </p:txBody>
      </p:sp>
      <p:sp>
        <p:nvSpPr>
          <p:cNvPr id="3" name="Google Shape;142;p24">
            <a:extLst xmlns:a="http://schemas.openxmlformats.org/drawingml/2006/main">
              <a:ext uri="{FF2B5EF4-FFF2-40B4-BE49-F238E27FC236}">
                <a16:creationId xmlns:a16="http://schemas.microsoft.com/office/drawing/2014/main" id="{63F8AAC5-1BA5-ECEC-14A1-F537B6DC3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640" y="1906735"/>
            <a:ext cx="8520600" cy="665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 fontScale="100000"/>
          </a:bodyPr>
          <a:lstStyle xmlns:a="http://schemas.openxmlformats.org/drawingml/2006/main">
            <a:lvl1pPr marL="457200" marR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 b="0" i="0" u="none" cap="none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1pPr>
            <a:lvl2pPr marL="9144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cap="none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2pPr>
            <a:lvl3pPr marL="13716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cap="none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3pPr>
            <a:lvl4pPr marL="18288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sz="1400" b="0" i="0" u="none" cap="none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4pPr>
            <a:lvl5pPr marL="22860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cap="none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5pPr>
            <a:lvl6pPr marL="27432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cap="none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6pPr>
            <a:lvl7pPr marL="32004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sz="1400" b="0" i="0" u="none" cap="none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7pPr>
            <a:lvl8pPr marL="36576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cap="none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8pPr>
            <a:lvl9pPr marL="41148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cap="none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9pPr>
          </a:lstStyle>
          <a:p xmlns:a="http://schemas.openxmlformats.org/drawingml/2006/main">
            <a:pPr marL="0" indent="0">
              <a:lnSpc>
                <a:spcPct val="150000"/>
              </a:lnSpc>
              <a:buFont typeface="Open Sans"/>
              <a:buNone/>
            </a:pPr>
            <a:r>
              <a:rPr b="1"/>
              <a:t>Результат:</a:t>
            </a:r>
          </a:p>
        </p:txBody>
      </p:sp>
      <p:sp>
        <p:nvSpPr>
          <p:cNvPr id="4" name="Google Shape;142;p24">
            <a:extLst xmlns:a="http://schemas.openxmlformats.org/drawingml/2006/main">
              <a:ext uri="{FF2B5EF4-FFF2-40B4-BE49-F238E27FC236}">
                <a16:creationId xmlns:a16="http://schemas.microsoft.com/office/drawing/2014/main" id="{D2E8D085-DA94-F290-B344-7CBD741A2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700" y="2571750"/>
            <a:ext cx="8520600" cy="14455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 fontScale="100000"/>
          </a:bodyPr>
          <a:lstStyle xmlns:a="http://schemas.openxmlformats.org/drawingml/2006/main">
            <a:lvl1pPr marL="457200" marR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 b="0" i="0" u="none" cap="none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1pPr>
            <a:lvl2pPr marL="9144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cap="none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2pPr>
            <a:lvl3pPr marL="13716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cap="none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3pPr>
            <a:lvl4pPr marL="18288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sz="1400" b="0" i="0" u="none" cap="none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4pPr>
            <a:lvl5pPr marL="22860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cap="none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5pPr>
            <a:lvl6pPr marL="27432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cap="none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6pPr>
            <a:lvl7pPr marL="32004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sz="1400" b="0" i="0" u="none" cap="none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7pPr>
            <a:lvl8pPr marL="36576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cap="none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8pPr>
            <a:lvl9pPr marL="41148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cap="none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9pPr>
          </a:lstStyle>
          <a:p xmlns:a="http://schemas.openxmlformats.org/drawingml/2006/main">
            <a:pPr marL="285750" indent="-285750">
              <a:lnSpc>
                <a:spcPct val="150000"/>
              </a:lnSpc>
              <a:buNone/>
            </a:pPr>
            <a:r>
              <a:rPr sz="1600"/>
              <a:t>4 ролі, замовлення, задачі й облік часу.</a:t>
            </a:r>
          </a:p>
          <a:p xmlns:a="http://schemas.openxmlformats.org/drawingml/2006/main">
            <a:pPr marL="285750" indent="-285750">
              <a:lnSpc>
                <a:spcPct val="150000"/>
              </a:lnSpc>
              <a:buNone/>
            </a:pPr>
            <a:r>
              <a:rPr sz="1600"/>
              <a:t>Snapshot ставки, Decimal-розрахунок і аудит.</a:t>
            </a:r>
          </a:p>
          <a:p xmlns:a="http://schemas.openxmlformats.org/drawingml/2006/main">
            <a:pPr marL="285750" indent="-285750">
              <a:lnSpc>
                <a:spcPct val="150000"/>
              </a:lnSpc>
              <a:buNone/>
            </a:pPr>
            <a:r>
              <a:rPr sz="1600"/>
              <a:t>HTML-звіт, XLSX, 15 автотестів; Django check без проблем.</a:t>
            </a:r>
          </a:p>
        </p:txBody>
      </p:sp>
    </p:spTree>
    <p:extLst>
      <p:ext uri="{BB962C8B-B14F-4D97-AF65-F5344CB8AC3E}">
        <p14:creationId xmlns:p14="http://schemas.microsoft.com/office/powerpoint/2010/main" val="1901342024"/>
      </p:ext>
    </p:extLst>
  </p:cSld>
</p:sld>
</file>

<file path=ppt/theme/theme1.xml><?xml version="1.0" encoding="utf-8"?>
<a:theme xmlns:a="http://schemas.openxmlformats.org/drawingml/2006/main" name="Шаблон презентації кваліфікаційної роботи магістрів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57BB8A"/>
      </a:accent3>
      <a:accent4>
        <a:srgbClr val="78909C"/>
      </a:accent4>
      <a:accent5>
        <a:srgbClr val="607D8B"/>
      </a:accent5>
      <a:accent6>
        <a:srgbClr val="DCE755"/>
      </a:accent6>
      <a:hlink>
        <a:srgbClr val="607D8B"/>
      </a:hlink>
      <a:folHlink>
        <a:srgbClr val="607D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ux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2026-07-17T10:30:17.4410000Z</dcterms:created>
  <dcterms:modified xsi:type="dcterms:W3CDTF">2026-07-17T10:30:17.4410000Z</dcterms:modified>
</coreProperties>
</file>